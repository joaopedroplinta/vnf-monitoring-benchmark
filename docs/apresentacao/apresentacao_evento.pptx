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0"/>
            <a:ext cx="10241280" cy="685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INSTITUTO FEDERAL DO PARANÁ · CAMPUS PINHAIS</a:t>
            </a:r>
          </a:p>
          <a:p>
            <a:pPr algn="l">
              <a:spcAft>
                <a:spcPts val="2200"/>
              </a:spcAft>
            </a:pPr>
            <a:r>
              <a:rPr sz="1300" b="0" i="0">
                <a:solidFill>
                  <a:srgbClr val="8B949E"/>
                </a:solidFill>
                <a:latin typeface="Arial"/>
              </a:rPr>
              <a:t>Bacharelado em Ciência da Computação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Arial"/>
              </a:rPr>
              <a:t>Monitoramento de Funções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E6EDF3"/>
                </a:solidFill>
                <a:latin typeface="Arial"/>
              </a:rPr>
              <a:t>Virtualizadas de Redes</a:t>
            </a:r>
          </a:p>
          <a:p>
            <a:pPr algn="l">
              <a:spcAft>
                <a:spcPts val="2600"/>
              </a:spcAft>
            </a:pPr>
            <a:r>
              <a:rPr sz="1700" b="0" i="0">
                <a:solidFill>
                  <a:srgbClr val="8B949E"/>
                </a:solidFill>
                <a:latin typeface="Arial"/>
              </a:rPr>
              <a:t>Um estudo comparativo entre ferramentas de extração de comportamento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João Pedro dos Santos Henrique Plinta   ·   Rafael Correia Alves</a:t>
            </a:r>
          </a:p>
          <a:p>
            <a:pPr algn="l">
              <a:spcAft>
                <a:spcPts val="1800"/>
              </a:spcAft>
            </a:pPr>
            <a:r>
              <a:rPr sz="1300" b="0" i="0">
                <a:solidFill>
                  <a:srgbClr val="8B949E"/>
                </a:solidFill>
                <a:latin typeface="Arial"/>
              </a:rPr>
              <a:t>Orientador: Prof. Me. Guilherme Werneck de Oliveira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FB950"/>
                </a:solidFill>
                <a:latin typeface="Arial"/>
              </a:rPr>
              <a:t>Pinhais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Roteiro da apresentação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486400" cy="3383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1.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Contexto: NFV e o monitoramento de VNFs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2.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Problema, hipótese e objetivos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3.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As três abordagens comparadas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4.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Lacuna na literatura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486400" cy="3383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5.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Metodologia e arquitetura experimental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6.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Resultados (360 execuções)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7.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Síntese e conclusões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3FB950"/>
                </a:solidFill>
                <a:latin typeface="Arial"/>
              </a:rPr>
              <a:t>8.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Limitações e trabalhos futuros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257800"/>
            <a:ext cx="110185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8A6FF"/>
                </a:solidFill>
                <a:latin typeface="Arial"/>
              </a:rPr>
              <a:t>Pergunta central: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monitorar uma VNF tem um custo — qual ferramenta cobra menos por isso?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257800"/>
            <a:ext cx="64008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Virtualização de Funções de Rede (NFV)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0080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NFV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desacopla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funções de rede do hardware — viram software (VNFs) em servidores comuns.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Exemplos de VNF: firewall, IDS, balanceador,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WAF</a:t>
            </a:r>
            <a:r>
              <a:rPr sz="17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Flexibilidade exige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monitoramento constante</a:t>
            </a:r>
            <a:r>
              <a:rPr sz="1700" b="0" i="0">
                <a:solidFill>
                  <a:srgbClr val="E6EDF3"/>
                </a:solidFill>
                <a:latin typeface="Arial"/>
              </a:rPr>
              <a:t>: CPU, memória, tráfego, latência.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O orquestrador (MANO) decide escalar ou recuperar a VNF a partir dessas métricas.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74519"/>
            <a:ext cx="429768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O ponto-chave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Métrica atrasada → orquestrador reage tarde → violação de SLA.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O monitor roda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co-localizado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à VNF: disputa os mesmos núcleos de CPU e memória.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74519"/>
            <a:ext cx="64008" cy="32918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DEFINIÇÃO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Problema, hipótese e lacuna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10185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A própria ferramenta de monitoramento </a:t>
            </a:r>
            <a:r>
              <a:rPr sz="1700" b="1" i="0">
                <a:solidFill>
                  <a:srgbClr val="D29922"/>
                </a:solidFill>
                <a:latin typeface="Arial"/>
              </a:rPr>
              <a:t>consome recursos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que deveriam ir para a VNF — um coletor pesado degrada o serviço que deveria só observar.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97480"/>
            <a:ext cx="1101852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8A6FF"/>
                </a:solidFill>
                <a:latin typeface="Arial"/>
              </a:rPr>
              <a:t>Pergunta de pesquisa: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quais as diferenças de desempenho entre eBPF, Sysstat e Prometheus ao monitorar uma VNF, e qual impõe menor sobrecarga?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64008" cy="9601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840480"/>
            <a:ext cx="534924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Hipótese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O eBPF, por operar no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kernel</a:t>
            </a:r>
            <a:r>
              <a:rPr sz="1400" b="0" i="0">
                <a:solidFill>
                  <a:srgbClr val="E6EDF3"/>
                </a:solidFill>
                <a:latin typeface="Arial"/>
              </a:rPr>
              <a:t>, deve ter o menor tempo de resposta e impacto, frente ao polling em espaço de usuário (Sysstat e Prometheus via /proc).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40480"/>
            <a:ext cx="64008" cy="2240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3840480"/>
            <a:ext cx="534924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Lacuna na literatura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Faltam estudos </a:t>
            </a:r>
            <a:r>
              <a:rPr sz="1400" b="1" i="0">
                <a:solidFill>
                  <a:srgbClr val="D29922"/>
                </a:solidFill>
                <a:latin typeface="Arial"/>
              </a:rPr>
              <a:t>quantitativos controlados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comparando as três abordagens sobre uma mesma VNF, em condições equivalentes.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840480"/>
            <a:ext cx="64008" cy="22402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METAS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101852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Objetivo geral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Compreender como eBPF, Sysstat e Prometheus influenciam, em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tempo de resposta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e </a:t>
            </a:r>
            <a:r>
              <a:rPr sz="1500" b="1" i="0">
                <a:solidFill>
                  <a:srgbClr val="E6EDF3"/>
                </a:solidFill>
                <a:latin typeface="Arial"/>
              </a:rPr>
              <a:t>sobrecarga</a:t>
            </a:r>
            <a:r>
              <a:rPr sz="1500" b="0" i="0">
                <a:solidFill>
                  <a:srgbClr val="E6EDF3"/>
                </a:solidFill>
                <a:latin typeface="Arial"/>
              </a:rPr>
              <a:t>, o monitoramento de uma VNF sob diferentes cargas.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12344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101852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Objetivos específicos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Levantar a literatura de monitoramento em NFV;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Implementar três coletores (eBPF, Sysstat, Prometheus) para um WAF;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Executar experimentos com 4 cargas distintas, medindo tempo de extração, CPU e memória;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Compreender vantagens e limitações de cada abordagem.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TECNOLOGIAS AVALIADAS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As três abordagens comparadas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Kernel-level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kprobes em tcp_sendmsg e tcp_cleanup_rbuf.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Conta bytes no kernel via mapas BPF; usuário só lê o agregado.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libbpf + CO-RE, sem cópia de pacotes.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3383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783080"/>
            <a:ext cx="3520440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User-space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Polling de /proc/net/dev + psutil a cada requisição.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Lê e faz parsing de arquivos de texto do /proc.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Consolidada e portável.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783080"/>
            <a:ext cx="64008" cy="33832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74152" y="1783080"/>
            <a:ext cx="3538728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D29922"/>
                </a:solidFill>
                <a:latin typeface="Arial"/>
              </a:rPr>
              <a:t>User-space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Mesma lógica do Sysstat + servidor HTTP na porta 8000.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Expõe /metrics no padrão Prometheus.</a:t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Padrão em microsserviços.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4152" y="1783080"/>
            <a:ext cx="64008" cy="33832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5349240"/>
            <a:ext cx="11018520" cy="777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3FB950"/>
                </a:solidFill>
                <a:latin typeface="Arial"/>
              </a:rPr>
              <a:t>Contraste central: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ler contadores no kernel  vs.  fazer polling de /proc no espaço de usuário.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349240"/>
            <a:ext cx="64008" cy="777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ESTADO DA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Lacuna na literatura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18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2606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Trabalho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Tecnologias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Comparou as 3?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Carga / VNF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Cassagnes et al. (2020)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 vs. polling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 (sem Prometheus)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Rede geral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Sathyaseelan et al. (2024)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Kubernetes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Shahinfar et al. (2025)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Host / rede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Oliveira et al. (2026)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DPI simulado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Este trabalho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eBPF + Sysstat + Prometheus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Sim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EDF3"/>
                          </a:solidFill>
                          <a:latin typeface="Arial"/>
                        </a:rPr>
                        <a:t>WAF, 100k–2M msgs</a:t>
                      </a:r>
                    </a:p>
                  </a:txBody>
                  <a:tcPr anchor="ctr" marL="101600" marR="76200" marT="38100" marB="38100">
                    <a:solidFill>
                      <a:srgbClr val="102A1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029200"/>
            <a:ext cx="110185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Nenhum estudo compara </a:t>
            </a:r>
            <a:r>
              <a:rPr sz="1600" b="1" i="0">
                <a:solidFill>
                  <a:srgbClr val="3FB950"/>
                </a:solidFill>
                <a:latin typeface="Arial"/>
              </a:rPr>
              <a:t>as três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abordagens sobre uma mesma VNF, com cargas crescentes e controladas. É essa lacuna que preenchemos.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COMO MEDIMOS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Metodologia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92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Pesquisa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aplicada, quantitativa, comparativa e experimental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VNF representativa: um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WAF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que inspeciona SQLi, XSS, Path Traversal, RCE e Null Byte.</a:t>
            </a:r>
          </a:p>
          <a:p>
            <a:pPr algn="l">
              <a:spcAft>
                <a:spcPts val="16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WAF é intensivo em CPU → torna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visível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qualquer sobrecarga do coletor.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425196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Ambiente de testes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AMD Ryzen 5 5500 (6c / 12t)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16 GB RAM · Ubuntu 26.04 LTS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kernel 7.0.0-15-generic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3 pilhas Docker Compose isoladas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libbpf 1.3 · clang 18 · Python 3.12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64008" cy="32918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TOPOLOGIA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Arquitetura experimental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783080"/>
            <a:ext cx="9418320" cy="397763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4model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02" y="1892808"/>
            <a:ext cx="5589316" cy="37581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B949E"/>
                </a:solidFill>
                <a:latin typeface="Arial"/>
              </a:rPr>
              <a:t>Cliente → WAF (TCP 8080) → Observador (UDP 9999);  probe.py mede o RTT a cada 1 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DESENHO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Protocolo de testes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6492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1" i="0">
                <a:solidFill>
                  <a:srgbClr val="E6EDF3"/>
                </a:solidFill>
                <a:latin typeface="Arial"/>
              </a:rPr>
              <a:t>Variável independente: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N = 100k, 500k, 1M, 2M mensagens.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Carga 60% benigna + 40% maliciosa, semente fixa →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idêntica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entre ferramentas.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Cliente: 200 corrotinas assíncronas, conexões TCP persistentes.</a:t>
            </a:r>
          </a:p>
          <a:p>
            <a:pPr algn="l">
              <a:spcAft>
                <a:spcPts val="1500"/>
              </a:spcAft>
            </a:pPr>
            <a:r>
              <a:rPr sz="1700" b="1">
                <a:solidFill>
                  <a:srgbClr val="3FB950"/>
                </a:solidFill>
                <a:latin typeface="Arial"/>
              </a:rPr>
              <a:t>▸  </a:t>
            </a:r>
            <a:r>
              <a:rPr sz="1700" b="0" i="0">
                <a:solidFill>
                  <a:srgbClr val="E6EDF3"/>
                </a:solidFill>
                <a:latin typeface="Arial"/>
              </a:rPr>
              <a:t>30 repetições por combinação →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360 execuções.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42519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Métricas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Primária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Tempo de resposta do observador (RTT UDP), em ns, via probe.py.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8A6FF"/>
                </a:solidFill>
                <a:latin typeface="Arial"/>
              </a:rPr>
              <a:t>Secundárias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CPU e memória do WAF e do próprio coletor.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Agregação: média ± IC95% (t de Student, n=30).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64008" cy="39319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MÉTRICA PRIMÁRIA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Tempo de resposta do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o_resposta_por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783080"/>
            <a:ext cx="420624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3FB950"/>
                </a:solidFill>
                <a:latin typeface="Arial"/>
              </a:rPr>
              <a:t>−8% a −15%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O eBPF teve o menor RTT em </a:t>
            </a:r>
            <a:r>
              <a:rPr sz="1600" b="1" i="0">
                <a:solidFill>
                  <a:srgbClr val="E6EDF3"/>
                </a:solidFill>
                <a:latin typeface="Arial"/>
              </a:rPr>
              <a:t>todos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os volumes.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8,1% a 14,7% menor vs. Sysstat.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10,9% a 14,0% menor vs. Prometheus.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FB950"/>
                </a:solidFill>
                <a:latin typeface="Arial"/>
              </a:rPr>
              <a:t>▸  </a:t>
            </a:r>
            <a:r>
              <a:rPr sz="1500" b="0" i="0">
                <a:solidFill>
                  <a:srgbClr val="E6EDF3"/>
                </a:solidFill>
                <a:latin typeface="Arial"/>
              </a:rPr>
              <a:t>IC95% </a:t>
            </a:r>
            <a:r>
              <a:rPr sz="1500" b="1" i="0">
                <a:solidFill>
                  <a:srgbClr val="3FB950"/>
                </a:solidFill>
                <a:latin typeface="Arial"/>
              </a:rPr>
              <a:t>nunca se sobrepõem</a:t>
            </a:r>
            <a:r>
              <a:rPr sz="1500" b="0" i="0">
                <a:solidFill>
                  <a:srgbClr val="E6EDF3"/>
                </a:solidFill>
                <a:latin typeface="Arial"/>
              </a:rPr>
              <a:t> → estatisticamente significativo.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DISPERSÃO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Distribuição do tempo de resposta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783080"/>
            <a:ext cx="97840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xplot_tempo_respo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080093"/>
            <a:ext cx="9564624" cy="3063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532120"/>
            <a:ext cx="1101852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Arial"/>
              </a:rPr>
              <a:t>Em 500k e 1M a caixa do eBPF fica </a:t>
            </a:r>
            <a:r>
              <a:rPr sz="1400" b="1" i="0">
                <a:solidFill>
                  <a:srgbClr val="3FB950"/>
                </a:solidFill>
                <a:latin typeface="Arial"/>
              </a:rPr>
              <a:t>toda abaixo</a:t>
            </a:r>
            <a:r>
              <a:rPr sz="1400" b="0" i="0">
                <a:solidFill>
                  <a:srgbClr val="E6EDF3"/>
                </a:solidFill>
                <a:latin typeface="Arial"/>
              </a:rPr>
              <a:t> das demais. Contrapartida: maior dispersão e outliers (máx. 1,06 ms em 2M).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CONTROLE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Consumo de CPU do WAF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pu_w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920240"/>
            <a:ext cx="4206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A partir de 500k o WAF satura em </a:t>
            </a:r>
            <a:r>
              <a:rPr sz="1600" b="1" i="0">
                <a:solidFill>
                  <a:srgbClr val="58A6FF"/>
                </a:solidFill>
                <a:latin typeface="Arial"/>
              </a:rPr>
              <a:t>~107–109%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de uma thread.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E6EDF3"/>
                </a:solidFill>
                <a:latin typeface="Arial"/>
              </a:rPr>
              <a:t>Igual nos três casos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(IC95% sobrepostos).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Confirma: nenhum coletor interfere no caminho de inspeção do WAF.</a:t>
            </a:r>
          </a:p>
          <a:p>
            <a:pPr algn="l">
              <a:spcAft>
                <a:spcPts val="1400"/>
              </a:spcAft>
            </a:pPr>
            <a:r>
              <a:rPr sz="1600" b="0" i="1">
                <a:solidFill>
                  <a:srgbClr val="8B949E"/>
                </a:solidFill>
                <a:latin typeface="Arial"/>
              </a:rPr>
              <a:t>O coletor afeta sua própria sobrecarga, não a CPU da VNF.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SOBRECARGA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Memória do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67512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moria_observ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" y="1892808"/>
            <a:ext cx="6130544" cy="3941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1920240"/>
            <a:ext cx="4206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6EDF3"/>
                </a:solidFill>
                <a:latin typeface="Arial"/>
              </a:rPr>
              <a:t>Maior separação entre as três: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58A6FF"/>
                </a:solidFill>
                <a:latin typeface="Arial"/>
              </a:rPr>
              <a:t>▸  </a:t>
            </a: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~14 MB (menor)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~15 MB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D29922"/>
                </a:solidFill>
                <a:latin typeface="Arial"/>
              </a:rPr>
              <a:t>▸  </a:t>
            </a: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  <a:r>
              <a:rPr sz="1600" b="0" i="0">
                <a:solidFill>
                  <a:srgbClr val="E6EDF3"/>
                </a:solidFill>
                <a:latin typeface="Arial"/>
              </a:rPr>
              <a:t>  ~24 MB (+78%)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Custo do servidor HTTP + prometheus_client. Constante com o volume.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RESULTADO · SOBRECARGA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CPU do próprio observador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185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E6EDF3"/>
                </a:solidFill>
                <a:latin typeface="Arial"/>
              </a:rPr>
              <a:t>Resultado mais limpo em N = 100k: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0" y="2423160"/>
          <a:ext cx="7040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Coletor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CPU média do observador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FB950"/>
                          </a:solidFill>
                          <a:latin typeface="Arial"/>
                        </a:rPr>
                        <a:t>0,05% ± 0,01  (menor)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2,37%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E6EDF3"/>
                          </a:solidFill>
                          <a:latin typeface="Arial"/>
                        </a:rPr>
                        <a:t>4,66%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4892040"/>
            <a:ext cx="110185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6EDF3"/>
                </a:solidFill>
                <a:latin typeface="Arial"/>
              </a:rPr>
              <a:t>eBPF consome CPU </a:t>
            </a:r>
            <a:r>
              <a:rPr sz="1700" b="1" i="0">
                <a:solidFill>
                  <a:srgbClr val="3FB950"/>
                </a:solidFill>
                <a:latin typeface="Arial"/>
              </a:rPr>
              <a:t>1 a 2 ordens de grandeza menor</a:t>
            </a:r>
            <a:r>
              <a:rPr sz="1700" b="0" i="0">
                <a:solidFill>
                  <a:srgbClr val="E6EDF3"/>
                </a:solidFill>
                <a:latin typeface="Arial"/>
              </a:rPr>
              <a:t> — ler mapas do kernel é muito mais barato que parsear /proc.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B949E"/>
                </a:solidFill>
                <a:latin typeface="Arial"/>
              </a:rPr>
              <a:t>Em volumes maiores a métrica fica ruidosa (psutil + contenção de CPU) → evidência qualitativa.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VISÃO CONSOLIDADA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Síntese dos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18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2560320"/>
                <a:gridCol w="2560320"/>
                <a:gridCol w="2560320"/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Dimensão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eBPF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Sysstat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Prometheus</a:t>
                      </a:r>
                    </a:p>
                  </a:txBody>
                  <a:tcPr anchor="ctr" marL="101600" marR="76200" marT="38100" marB="38100">
                    <a:solidFill>
                      <a:srgbClr val="1F6FE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Tempo de resposta (RTT)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Menor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Intermediário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CPU do WAF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Equivalente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Memória do observador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~15 MB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~14 MB (menor)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~24 MB (maior)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CPU do observador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FB950"/>
                          </a:solidFill>
                          <a:latin typeface="Arial"/>
                        </a:rPr>
                        <a:t>Menor / estável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 / ruidosa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6EDF3"/>
                          </a:solidFill>
                          <a:latin typeface="Arial"/>
                        </a:rPr>
                        <a:t>Maior / ruidosa</a:t>
                      </a:r>
                    </a:p>
                  </a:txBody>
                  <a:tcPr anchor="ctr" marL="101600" marR="76200" marT="38100" marB="381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" y="4526280"/>
            <a:ext cx="352044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eBPF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Vence em desempenho e CPU do coletor.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526280"/>
            <a:ext cx="64008" cy="1600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4526280"/>
            <a:ext cx="352044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8A6FF"/>
                </a:solidFill>
                <a:latin typeface="Arial"/>
              </a:rPr>
              <a:t>Sysstat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Mais leve em memória; simples e portável.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4526280"/>
            <a:ext cx="64008" cy="16002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74152" y="4526280"/>
            <a:ext cx="3538728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Prometheus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6EDF3"/>
                </a:solidFill>
                <a:latin typeface="Arial"/>
              </a:rPr>
              <a:t>Maior custo de memória; ganho só com scraping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4526280"/>
            <a:ext cx="64008" cy="160020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FECHAMENTO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Conclusões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101852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1" i="0">
                <a:solidFill>
                  <a:srgbClr val="3FB950"/>
                </a:solidFill>
                <a:latin typeface="Arial"/>
              </a:rPr>
              <a:t>A hipótese se confirma: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o eBPF tem o menor tempo de resposta e a menor CPU de coletor, sem sobrecarregar o WAF.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Vantagem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consistente e significativa</a:t>
            </a:r>
            <a:r>
              <a:rPr sz="1800" b="0" i="0">
                <a:solidFill>
                  <a:srgbClr val="E6EDF3"/>
                </a:solidFill>
                <a:latin typeface="Arial"/>
              </a:rPr>
              <a:t>, porém de magnitude moderada (8–15%) e com maior variabilidade.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Não há "ganhador absoluto": a escolha depende do </a:t>
            </a:r>
            <a:r>
              <a:rPr sz="1800" b="1" i="0">
                <a:solidFill>
                  <a:srgbClr val="E6EDF3"/>
                </a:solidFill>
                <a:latin typeface="Arial"/>
              </a:rPr>
              <a:t>contexto operacional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(memória escassa, ecossistema, latência previsível).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3FB950"/>
                </a:solidFill>
                <a:latin typeface="Arial"/>
              </a:rPr>
              <a:t>▸  </a:t>
            </a:r>
            <a:r>
              <a:rPr sz="1800" b="0" i="0">
                <a:solidFill>
                  <a:srgbClr val="E6EDF3"/>
                </a:solidFill>
                <a:latin typeface="Arial"/>
              </a:rPr>
              <a:t>Contribuição: primeiro </a:t>
            </a:r>
            <a:r>
              <a:rPr sz="1800" b="1" i="0">
                <a:solidFill>
                  <a:srgbClr val="3FB950"/>
                </a:solidFill>
                <a:latin typeface="Arial"/>
              </a:rPr>
              <a:t>benchmark direto das três</a:t>
            </a:r>
            <a:r>
              <a:rPr sz="1800" b="0" i="0">
                <a:solidFill>
                  <a:srgbClr val="E6EDF3"/>
                </a:solidFill>
                <a:latin typeface="Arial"/>
              </a:rPr>
              <a:t> sobre uma mesma VNF, com código aberto e reprodutível.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515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8A6FF"/>
                </a:solidFill>
                <a:latin typeface="Arial"/>
              </a:rPr>
              <a:t>HONESTIDADE CIENTÍFICA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6EDF3"/>
                </a:solidFill>
                <a:latin typeface="Arial"/>
              </a:rPr>
              <a:t>Limitações e trabalhos futuros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118872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7772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64008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B949E"/>
                </a:solidFill>
                <a:latin typeface="Arial"/>
              </a:rPr>
              <a:t>TCC · IFPR Campus Pinhais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29922"/>
                </a:solidFill>
                <a:latin typeface="Arial"/>
              </a:rPr>
              <a:t>Limitações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Tráfego em loopback (sem overhead de NIC física).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Contêineres compartilham núcleos → possível contenção.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WAF simplificado em Python (não é ModSecurity).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Prometheus sem servidor central fazendo scraping.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42062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783080"/>
            <a:ext cx="5349240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tIns="127000" rIns="127000" bIns="101600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FB950"/>
                </a:solidFill>
                <a:latin typeface="Arial"/>
              </a:rPr>
              <a:t>Trabalhos futuros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Estender para uma SFC completa (firewall + IDS + LB).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Medir em rede física e sob ataque DDoS real.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Incluir o ciclo de scraping do Prometheus.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Explorar hooks XDP / TC do eBPF.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64008" cy="4206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0"/>
            <a:ext cx="10241280" cy="68580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 i="0">
                <a:solidFill>
                  <a:srgbClr val="E6EDF3"/>
                </a:solidFill>
                <a:latin typeface="Arial"/>
              </a:rPr>
              <a:t>Obrigado!</a:t>
            </a:r>
          </a:p>
          <a:p>
            <a:pPr algn="l">
              <a:spcAft>
                <a:spcPts val="2600"/>
              </a:spcAft>
            </a:pPr>
            <a:r>
              <a:rPr sz="2000" b="0" i="0">
                <a:solidFill>
                  <a:srgbClr val="8B949E"/>
                </a:solidFill>
                <a:latin typeface="Arial"/>
              </a:rPr>
              <a:t>Dúvidas ou comentários?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6EDF3"/>
                </a:solidFill>
                <a:latin typeface="Arial"/>
              </a:rPr>
              <a:t>João Pedro dos Santos Henrique Plinta   ·   Rafael Correia Alves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FB950"/>
                </a:solidFill>
                <a:latin typeface="Arial"/>
              </a:rPr>
              <a:t>github.com/joaopedroplinta/vnf-monitoring-benchmark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