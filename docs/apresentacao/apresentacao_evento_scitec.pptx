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</p:sldIdLst>
  <p:sldSz cx="18288000" cy="10287000"/>
  <p:notesSz cx="6858000" cy="9144000"/>
  <p:embeddedFontLst>
    <p:embeddedFont>
      <p:font typeface="Lato Bold" charset="1" panose="020F0502020204030203"/>
      <p:regular r:id="rId8"/>
    </p:embeddedFont>
    <p:embeddedFont>
      <p:font typeface="Lato Heavy" charset="1" panose="020F0502020204030203"/>
      <p:regular r:id="rId9"/>
    </p:embeddedFont>
    <p:embeddedFont>
      <p:font typeface="Arial" charset="1" panose="020B06040202020202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font8.fntdata"/><Relationship Id="rId9" Type="http://schemas.openxmlformats.org/officeDocument/2006/relationships/font" Target="fonts/font9.fntdata"/><Relationship Id="rId10" Type="http://schemas.openxmlformats.org/officeDocument/2006/relationships/font" Target="fonts/font10.fntdata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19999" y="8601238"/>
            <a:ext cx="3956548" cy="1092996"/>
          </a:xfrm>
          <a:custGeom>
            <a:avLst/>
            <a:gdLst/>
            <a:ahLst/>
            <a:cxnLst/>
            <a:rect r="r" b="b" t="t" l="l"/>
            <a:pathLst>
              <a:path h="1092996" w="3956548">
                <a:moveTo>
                  <a:pt x="0" y="0"/>
                </a:moveTo>
                <a:lnTo>
                  <a:pt x="3956549" y="0"/>
                </a:lnTo>
                <a:lnTo>
                  <a:pt x="3956549" y="1092997"/>
                </a:lnTo>
                <a:lnTo>
                  <a:pt x="0" y="10929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809625"/>
            <a:ext cx="9525000" cy="11906250"/>
            <a:chOff x="0" y="0"/>
            <a:chExt cx="12700000" cy="15875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9525000" y="0"/>
              <a:ext cx="3175000" cy="3175000"/>
              <a:chOff x="0" y="0"/>
              <a:chExt cx="986193" cy="986193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55" id="55"/>
          <p:cNvSpPr/>
          <p:nvPr/>
        </p:nvSpPr>
        <p:spPr>
          <a:xfrm flipH="false" flipV="false" rot="0">
            <a:off x="213008" y="131350"/>
            <a:ext cx="2896913" cy="2896913"/>
          </a:xfrm>
          <a:custGeom>
            <a:avLst/>
            <a:gdLst/>
            <a:ahLst/>
            <a:cxnLst/>
            <a:rect r="r" b="b" t="t" l="l"/>
            <a:pathLst>
              <a:path h="2896913" w="2896913">
                <a:moveTo>
                  <a:pt x="0" y="0"/>
                </a:moveTo>
                <a:lnTo>
                  <a:pt x="2896912" y="0"/>
                </a:lnTo>
                <a:lnTo>
                  <a:pt x="2896912" y="2896913"/>
                </a:lnTo>
                <a:lnTo>
                  <a:pt x="0" y="28969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9956641" y="6100000"/>
            <a:ext cx="7900000" cy="75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691"/>
              </a:lnSpc>
            </a:pPr>
            <a:r>
              <a:rPr sz="2200" b="1">
                <a:solidFill>
                  <a:srgbClr val="000000"/>
                </a:solidFill>
                <a:latin typeface="Lato Bold"/>
              </a:rPr>
              <a:t>João Pedro dos Santos Henrique Plinta e Rafael Correia Alves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320665" y="946309"/>
            <a:ext cx="7578433" cy="28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6517"/>
              </a:lnSpc>
            </a:pPr>
            <a:r>
              <a:rPr sz="3600" b="1">
                <a:solidFill>
                  <a:srgbClr val="000000"/>
                </a:solidFill>
                <a:latin typeface="Lato Heavy"/>
              </a:rPr>
              <a:t>Monitoramento de VNFs: eBPF vs. Sysstat vs. Prometheus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956641" y="7150000"/>
            <a:ext cx="7900000" cy="7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691"/>
              </a:lnSpc>
            </a:pPr>
            <a:r>
              <a:rPr sz="2000" b="1">
                <a:solidFill>
                  <a:srgbClr val="000000"/>
                </a:solidFill>
                <a:latin typeface="Lato Bold"/>
              </a:rPr>
              <a:t>Orientador: Prof. Me. Guilherme Werneck de Oliveira — IFPR Campus Pinhais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3192" y="356173"/>
            <a:ext cx="16735628" cy="1119763"/>
            <a:chOff x="0" y="0"/>
            <a:chExt cx="22314171" cy="149301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8598"/>
              <a:ext cx="22314171" cy="1354419"/>
              <a:chOff x="0" y="0"/>
              <a:chExt cx="51788682" cy="314345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8989" cy="8763"/>
              </a:xfrm>
              <a:custGeom>
                <a:avLst/>
                <a:gdLst/>
                <a:ahLst/>
                <a:cxnLst/>
                <a:rect r="r" b="b" t="t" l="l"/>
                <a:pathLst>
                  <a:path h="8763" w="38989">
                    <a:moveTo>
                      <a:pt x="0" y="0"/>
                    </a:moveTo>
                    <a:lnTo>
                      <a:pt x="38989" y="0"/>
                    </a:lnTo>
                    <a:lnTo>
                      <a:pt x="38989" y="8763"/>
                    </a:lnTo>
                    <a:lnTo>
                      <a:pt x="0" y="8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D050"/>
              </a:solidFill>
              <a:ln w="25550" cap="sq">
                <a:solidFill>
                  <a:srgbClr val="92D050"/>
                </a:solidFill>
                <a:prstDash val="solid"/>
                <a:miter/>
              </a:ln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9141893" y="130450"/>
              <a:ext cx="4055852" cy="756837"/>
              <a:chOff x="0" y="0"/>
              <a:chExt cx="2739324" cy="51116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739324" cy="511168"/>
              </a:xfrm>
              <a:custGeom>
                <a:avLst/>
                <a:gdLst/>
                <a:ahLst/>
                <a:cxnLst/>
                <a:rect r="r" b="b" t="t" l="l"/>
                <a:pathLst>
                  <a:path h="511168" w="2739324">
                    <a:moveTo>
                      <a:pt x="0" y="0"/>
                    </a:moveTo>
                    <a:lnTo>
                      <a:pt x="2739324" y="0"/>
                    </a:lnTo>
                    <a:lnTo>
                      <a:pt x="2739324" y="511168"/>
                    </a:lnTo>
                    <a:lnTo>
                      <a:pt x="0" y="511168"/>
                    </a:lnTo>
                    <a:close/>
                  </a:path>
                </a:pathLst>
              </a:custGeom>
              <a:solidFill>
                <a:srgbClr val="0AA041">
                  <a:alpha val="80000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57150"/>
                <a:ext cx="2739324" cy="568318"/>
              </a:xfrm>
              <a:prstGeom prst="rect">
                <a:avLst/>
              </a:prstGeom>
            </p:spPr>
            <p:txBody>
              <a:bodyPr anchor="ctr" rtlCol="false" tIns="8023" lIns="8023" bIns="8023" rIns="8023"/>
              <a:lstStyle/>
              <a:p>
                <a:pPr algn="r">
                  <a:lnSpc>
                    <a:spcPts val="4472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9141893" y="103486"/>
              <a:ext cx="3614136" cy="7838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299"/>
                </a:lnSpc>
              </a:pPr>
              <a:r>
                <a:rPr lang="en-US" b="true" sz="4299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957618" y="76200"/>
              <a:ext cx="3783172" cy="797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300"/>
                </a:lnSpc>
              </a:pPr>
              <a:r>
                <a:rPr lang="en-US" b="true" sz="430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2079630" y="137279"/>
              <a:ext cx="1250657" cy="703295"/>
              <a:chOff x="0" y="0"/>
              <a:chExt cx="796585" cy="4479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96585" cy="447952"/>
              </a:xfrm>
              <a:custGeom>
                <a:avLst/>
                <a:gdLst/>
                <a:ahLst/>
                <a:cxnLst/>
                <a:rect r="r" b="b" t="t" l="l"/>
                <a:pathLst>
                  <a:path h="447952" w="796585">
                    <a:moveTo>
                      <a:pt x="0" y="0"/>
                    </a:moveTo>
                    <a:lnTo>
                      <a:pt x="796585" y="0"/>
                    </a:lnTo>
                    <a:lnTo>
                      <a:pt x="796585" y="447952"/>
                    </a:lnTo>
                    <a:lnTo>
                      <a:pt x="0" y="447952"/>
                    </a:lnTo>
                    <a:close/>
                  </a:path>
                </a:pathLst>
              </a:custGeom>
              <a:solidFill>
                <a:srgbClr val="0198C5">
                  <a:alpha val="80000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796585" cy="505102"/>
              </a:xfrm>
              <a:prstGeom prst="rect">
                <a:avLst/>
              </a:prstGeom>
            </p:spPr>
            <p:txBody>
              <a:bodyPr anchor="ctr" rtlCol="false" tIns="9429" lIns="9429" bIns="9429" rIns="9429"/>
              <a:lstStyle/>
              <a:p>
                <a:pPr algn="ctr">
                  <a:lnSpc>
                    <a:spcPts val="4473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819656" y="93442"/>
              <a:ext cx="2315145" cy="867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799404" y="76200"/>
              <a:ext cx="2315145" cy="867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89960" y="231339"/>
              <a:ext cx="5680898" cy="609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8"/>
                </a:lnSpc>
              </a:pPr>
              <a:r>
                <a:rPr lang="en-US" sz="3238" b="true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Seminário de Ciência e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884162" y="8479814"/>
            <a:ext cx="3956548" cy="1092996"/>
          </a:xfrm>
          <a:custGeom>
            <a:avLst/>
            <a:gdLst/>
            <a:ahLst/>
            <a:cxnLst/>
            <a:rect r="r" b="b" t="t" l="l"/>
            <a:pathLst>
              <a:path h="1092996" w="3956548">
                <a:moveTo>
                  <a:pt x="0" y="0"/>
                </a:moveTo>
                <a:lnTo>
                  <a:pt x="3956548" y="0"/>
                </a:lnTo>
                <a:lnTo>
                  <a:pt x="3956548" y="1092996"/>
                </a:lnTo>
                <a:lnTo>
                  <a:pt x="0" y="1092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0" y="9936452"/>
            <a:ext cx="9525000" cy="11906250"/>
            <a:chOff x="0" y="0"/>
            <a:chExt cx="12700000" cy="15875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9525000" y="0"/>
              <a:ext cx="3175000" cy="3175000"/>
              <a:chOff x="0" y="0"/>
              <a:chExt cx="986193" cy="986193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69" id="69"/>
          <p:cNvGrpSpPr/>
          <p:nvPr/>
        </p:nvGrpSpPr>
        <p:grpSpPr>
          <a:xfrm rot="-5400000">
            <a:off x="8318204" y="8745827"/>
            <a:ext cx="9525000" cy="11906250"/>
            <a:chOff x="0" y="0"/>
            <a:chExt cx="12700000" cy="15875000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117" id="11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8" id="118"/>
          <p:cNvSpPr txBox="true"/>
          <p:nvPr/>
        </p:nvSpPr>
        <p:spPr>
          <a:xfrm rot="0">
            <a:off x="758478" y="2018645"/>
            <a:ext cx="9800000" cy="15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4724"/>
              </a:lnSpc>
            </a:pPr>
            <a:r>
              <a:rPr sz="4000" b="1">
                <a:solidFill>
                  <a:srgbClr val="000000"/>
                </a:solidFill>
                <a:latin typeface="Lato Heavy"/>
              </a:rPr>
              <a:t>Roteiro da Apresentação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758478" y="3736534"/>
            <a:ext cx="9800000" cy="46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Contexto — </a:t>
            </a:r>
            <a:r>
              <a:rPr b="0" sz="1700">
                <a:solidFill>
                  <a:srgbClr val="000000"/>
                </a:solidFill>
                <a:latin typeface="Arial"/>
              </a:rPr>
              <a:t>NFV transforma funções de rede em software; o monitor compete por recursos com a própria VNF.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Problema e Hipótese — </a:t>
            </a:r>
            <a:r>
              <a:rPr b="0" sz="1700">
                <a:solidFill>
                  <a:srgbClr val="000000"/>
                </a:solidFill>
                <a:latin typeface="Arial"/>
              </a:rPr>
              <a:t>Qual ferramenta gera menor sobrecarga? Hipótese: o eBPF, por operar no kernel sem polling, vence.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As Três Ferramentas — </a:t>
            </a:r>
            <a:r>
              <a:rPr b="0" sz="1700">
                <a:solidFill>
                  <a:srgbClr val="000000"/>
                </a:solidFill>
                <a:latin typeface="Arial"/>
              </a:rPr>
              <a:t>eBPF, Sysstat e Prometheus: onde cada uma lê os dados e que custo isso impõe.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Lacuna na Literatura — </a:t>
            </a:r>
            <a:r>
              <a:rPr b="0" sz="1700">
                <a:solidFill>
                  <a:srgbClr val="000000"/>
                </a:solidFill>
                <a:latin typeface="Arial"/>
              </a:rPr>
              <a:t>Nenhum trabalho anterior comparou as três ferramentas juntas, na mesma VNF.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Metodologia — </a:t>
            </a:r>
            <a:r>
              <a:rPr b="0" sz="1700">
                <a:solidFill>
                  <a:srgbClr val="000000"/>
                </a:solidFill>
                <a:latin typeface="Arial"/>
              </a:rPr>
              <a:t>WAF como VNF em Docker, quatro volumes de tráfego e coleta simultânea pelos três coletores.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Resultados — </a:t>
            </a:r>
            <a:r>
              <a:rPr b="0" sz="1700">
                <a:solidFill>
                  <a:srgbClr val="000000"/>
                </a:solidFill>
                <a:latin typeface="Arial"/>
              </a:rPr>
              <a:t>Tempo de resposta, CPU e memória, medidos para eBPF, Sysstat e Prometheus em cada volume.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Discussão — </a:t>
            </a:r>
            <a:r>
              <a:rPr b="0" sz="1700">
                <a:solidFill>
                  <a:srgbClr val="000000"/>
                </a:solidFill>
                <a:latin typeface="Arial"/>
              </a:rPr>
              <a:t>O que os dados confirmam sobre a hipótese formulada na introdução.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Limitações e Próximos Passos — </a:t>
            </a:r>
            <a:r>
              <a:rPr b="0" sz="1700">
                <a:solidFill>
                  <a:srgbClr val="000000"/>
                </a:solidFill>
                <a:latin typeface="Arial"/>
              </a:rPr>
              <a:t>O que os resultados não cobrem e o que falta até a defesa.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3192" y="356173"/>
            <a:ext cx="16735628" cy="1119763"/>
            <a:chOff x="0" y="0"/>
            <a:chExt cx="22314171" cy="149301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8598"/>
              <a:ext cx="22314171" cy="1354419"/>
              <a:chOff x="0" y="0"/>
              <a:chExt cx="51788682" cy="314345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8989" cy="8763"/>
              </a:xfrm>
              <a:custGeom>
                <a:avLst/>
                <a:gdLst/>
                <a:ahLst/>
                <a:cxnLst/>
                <a:rect r="r" b="b" t="t" l="l"/>
                <a:pathLst>
                  <a:path h="8763" w="38989">
                    <a:moveTo>
                      <a:pt x="0" y="0"/>
                    </a:moveTo>
                    <a:lnTo>
                      <a:pt x="38989" y="0"/>
                    </a:lnTo>
                    <a:lnTo>
                      <a:pt x="38989" y="8763"/>
                    </a:lnTo>
                    <a:lnTo>
                      <a:pt x="0" y="8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D050"/>
              </a:solidFill>
              <a:ln w="25550" cap="sq">
                <a:solidFill>
                  <a:srgbClr val="92D050"/>
                </a:solidFill>
                <a:prstDash val="solid"/>
                <a:miter/>
              </a:ln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9141893" y="130450"/>
              <a:ext cx="4055852" cy="756837"/>
              <a:chOff x="0" y="0"/>
              <a:chExt cx="2739324" cy="51116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739324" cy="511168"/>
              </a:xfrm>
              <a:custGeom>
                <a:avLst/>
                <a:gdLst/>
                <a:ahLst/>
                <a:cxnLst/>
                <a:rect r="r" b="b" t="t" l="l"/>
                <a:pathLst>
                  <a:path h="511168" w="2739324">
                    <a:moveTo>
                      <a:pt x="0" y="0"/>
                    </a:moveTo>
                    <a:lnTo>
                      <a:pt x="2739324" y="0"/>
                    </a:lnTo>
                    <a:lnTo>
                      <a:pt x="2739324" y="511168"/>
                    </a:lnTo>
                    <a:lnTo>
                      <a:pt x="0" y="511168"/>
                    </a:lnTo>
                    <a:close/>
                  </a:path>
                </a:pathLst>
              </a:custGeom>
              <a:solidFill>
                <a:srgbClr val="0AA041">
                  <a:alpha val="80000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57150"/>
                <a:ext cx="2739324" cy="568318"/>
              </a:xfrm>
              <a:prstGeom prst="rect">
                <a:avLst/>
              </a:prstGeom>
            </p:spPr>
            <p:txBody>
              <a:bodyPr anchor="ctr" rtlCol="false" tIns="8023" lIns="8023" bIns="8023" rIns="8023"/>
              <a:lstStyle/>
              <a:p>
                <a:pPr algn="r">
                  <a:lnSpc>
                    <a:spcPts val="4472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9141893" y="103486"/>
              <a:ext cx="3614136" cy="7838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299"/>
                </a:lnSpc>
              </a:pPr>
              <a:r>
                <a:rPr lang="en-US" b="true" sz="4299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957618" y="76200"/>
              <a:ext cx="3783172" cy="797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300"/>
                </a:lnSpc>
              </a:pPr>
              <a:r>
                <a:rPr lang="en-US" b="true" sz="430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2079630" y="137279"/>
              <a:ext cx="1250657" cy="703295"/>
              <a:chOff x="0" y="0"/>
              <a:chExt cx="796585" cy="4479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96585" cy="447952"/>
              </a:xfrm>
              <a:custGeom>
                <a:avLst/>
                <a:gdLst/>
                <a:ahLst/>
                <a:cxnLst/>
                <a:rect r="r" b="b" t="t" l="l"/>
                <a:pathLst>
                  <a:path h="447952" w="796585">
                    <a:moveTo>
                      <a:pt x="0" y="0"/>
                    </a:moveTo>
                    <a:lnTo>
                      <a:pt x="796585" y="0"/>
                    </a:lnTo>
                    <a:lnTo>
                      <a:pt x="796585" y="447952"/>
                    </a:lnTo>
                    <a:lnTo>
                      <a:pt x="0" y="447952"/>
                    </a:lnTo>
                    <a:close/>
                  </a:path>
                </a:pathLst>
              </a:custGeom>
              <a:solidFill>
                <a:srgbClr val="0198C5">
                  <a:alpha val="80000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796585" cy="505102"/>
              </a:xfrm>
              <a:prstGeom prst="rect">
                <a:avLst/>
              </a:prstGeom>
            </p:spPr>
            <p:txBody>
              <a:bodyPr anchor="ctr" rtlCol="false" tIns="9429" lIns="9429" bIns="9429" rIns="9429"/>
              <a:lstStyle/>
              <a:p>
                <a:pPr algn="ctr">
                  <a:lnSpc>
                    <a:spcPts val="4473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819656" y="93442"/>
              <a:ext cx="2315145" cy="867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799404" y="76200"/>
              <a:ext cx="2315145" cy="867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89960" y="231339"/>
              <a:ext cx="5680898" cy="609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8"/>
                </a:lnSpc>
              </a:pPr>
              <a:r>
                <a:rPr lang="en-US" sz="3238" b="true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Seminário de Ciência e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884162" y="8479814"/>
            <a:ext cx="3956548" cy="1092996"/>
          </a:xfrm>
          <a:custGeom>
            <a:avLst/>
            <a:gdLst/>
            <a:ahLst/>
            <a:cxnLst/>
            <a:rect r="r" b="b" t="t" l="l"/>
            <a:pathLst>
              <a:path h="1092996" w="3956548">
                <a:moveTo>
                  <a:pt x="0" y="0"/>
                </a:moveTo>
                <a:lnTo>
                  <a:pt x="3956548" y="0"/>
                </a:lnTo>
                <a:lnTo>
                  <a:pt x="3956548" y="1092996"/>
                </a:lnTo>
                <a:lnTo>
                  <a:pt x="0" y="1092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0" y="9936452"/>
            <a:ext cx="9525000" cy="11906250"/>
            <a:chOff x="0" y="0"/>
            <a:chExt cx="12700000" cy="15875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9525000" y="0"/>
              <a:ext cx="3175000" cy="3175000"/>
              <a:chOff x="0" y="0"/>
              <a:chExt cx="986193" cy="986193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69" id="69"/>
          <p:cNvGrpSpPr/>
          <p:nvPr/>
        </p:nvGrpSpPr>
        <p:grpSpPr>
          <a:xfrm rot="-5400000">
            <a:off x="8318204" y="8745827"/>
            <a:ext cx="9525000" cy="11906250"/>
            <a:chOff x="0" y="0"/>
            <a:chExt cx="12700000" cy="15875000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117" id="11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8" id="118"/>
          <p:cNvSpPr txBox="true"/>
          <p:nvPr/>
        </p:nvSpPr>
        <p:spPr>
          <a:xfrm rot="0">
            <a:off x="758478" y="2018645"/>
            <a:ext cx="9800000" cy="15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4724"/>
              </a:lnSpc>
            </a:pPr>
            <a:r>
              <a:rPr sz="4000" b="1">
                <a:solidFill>
                  <a:srgbClr val="000000"/>
                </a:solidFill>
                <a:latin typeface="Lato Heavy"/>
              </a:rPr>
              <a:t>Contexto: NFV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758478" y="3736534"/>
            <a:ext cx="9800000" cy="46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00000"/>
                </a:solidFill>
                <a:latin typeface="Arial"/>
              </a:rPr>
              <a:t>O que é uma VNF? — </a:t>
            </a:r>
            <a:r>
              <a:rPr b="0" sz="2000">
                <a:solidFill>
                  <a:srgbClr val="000000"/>
                </a:solidFill>
                <a:latin typeface="Arial"/>
              </a:rPr>
              <a:t>A Virtualização de Funções de Rede (NFV) transforma funções como firewall, IDS e balanceador de carga em software rodando sobre hardware comum, no lugar de appliances dedicados.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00000"/>
                </a:solidFill>
                <a:latin typeface="Arial"/>
              </a:rPr>
              <a:t>O desafio do monitoramento — </a:t>
            </a:r>
            <a:r>
              <a:rPr b="0" sz="2000">
                <a:solidFill>
                  <a:srgbClr val="000000"/>
                </a:solidFill>
                <a:latin typeface="Arial"/>
              </a:rPr>
              <a:t>O agente de monitoramento roda no mesmo host da VNF, disputando diretamente CPU e memória com a função que deveria apenas observar — a sobrecarga do monitor é subtraída da capacidade da própria rede.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3192" y="356173"/>
            <a:ext cx="16735628" cy="1119763"/>
            <a:chOff x="0" y="0"/>
            <a:chExt cx="22314171" cy="149301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8598"/>
              <a:ext cx="22314171" cy="1354419"/>
              <a:chOff x="0" y="0"/>
              <a:chExt cx="51788682" cy="314345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8989" cy="8763"/>
              </a:xfrm>
              <a:custGeom>
                <a:avLst/>
                <a:gdLst/>
                <a:ahLst/>
                <a:cxnLst/>
                <a:rect r="r" b="b" t="t" l="l"/>
                <a:pathLst>
                  <a:path h="8763" w="38989">
                    <a:moveTo>
                      <a:pt x="0" y="0"/>
                    </a:moveTo>
                    <a:lnTo>
                      <a:pt x="38989" y="0"/>
                    </a:lnTo>
                    <a:lnTo>
                      <a:pt x="38989" y="8763"/>
                    </a:lnTo>
                    <a:lnTo>
                      <a:pt x="0" y="8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D050"/>
              </a:solidFill>
              <a:ln w="25550" cap="sq">
                <a:solidFill>
                  <a:srgbClr val="92D050"/>
                </a:solidFill>
                <a:prstDash val="solid"/>
                <a:miter/>
              </a:ln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9141893" y="130450"/>
              <a:ext cx="4055852" cy="756837"/>
              <a:chOff x="0" y="0"/>
              <a:chExt cx="2739324" cy="51116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739324" cy="511168"/>
              </a:xfrm>
              <a:custGeom>
                <a:avLst/>
                <a:gdLst/>
                <a:ahLst/>
                <a:cxnLst/>
                <a:rect r="r" b="b" t="t" l="l"/>
                <a:pathLst>
                  <a:path h="511168" w="2739324">
                    <a:moveTo>
                      <a:pt x="0" y="0"/>
                    </a:moveTo>
                    <a:lnTo>
                      <a:pt x="2739324" y="0"/>
                    </a:lnTo>
                    <a:lnTo>
                      <a:pt x="2739324" y="511168"/>
                    </a:lnTo>
                    <a:lnTo>
                      <a:pt x="0" y="511168"/>
                    </a:lnTo>
                    <a:close/>
                  </a:path>
                </a:pathLst>
              </a:custGeom>
              <a:solidFill>
                <a:srgbClr val="0AA041">
                  <a:alpha val="80000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57150"/>
                <a:ext cx="2739324" cy="568318"/>
              </a:xfrm>
              <a:prstGeom prst="rect">
                <a:avLst/>
              </a:prstGeom>
            </p:spPr>
            <p:txBody>
              <a:bodyPr anchor="ctr" rtlCol="false" tIns="8023" lIns="8023" bIns="8023" rIns="8023"/>
              <a:lstStyle/>
              <a:p>
                <a:pPr algn="r">
                  <a:lnSpc>
                    <a:spcPts val="4472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9141893" y="103486"/>
              <a:ext cx="3614136" cy="7838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299"/>
                </a:lnSpc>
              </a:pPr>
              <a:r>
                <a:rPr lang="en-US" b="true" sz="4299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957618" y="76200"/>
              <a:ext cx="3783172" cy="797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300"/>
                </a:lnSpc>
              </a:pPr>
              <a:r>
                <a:rPr lang="en-US" b="true" sz="430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2079630" y="137279"/>
              <a:ext cx="1250657" cy="703295"/>
              <a:chOff x="0" y="0"/>
              <a:chExt cx="796585" cy="4479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96585" cy="447952"/>
              </a:xfrm>
              <a:custGeom>
                <a:avLst/>
                <a:gdLst/>
                <a:ahLst/>
                <a:cxnLst/>
                <a:rect r="r" b="b" t="t" l="l"/>
                <a:pathLst>
                  <a:path h="447952" w="796585">
                    <a:moveTo>
                      <a:pt x="0" y="0"/>
                    </a:moveTo>
                    <a:lnTo>
                      <a:pt x="796585" y="0"/>
                    </a:lnTo>
                    <a:lnTo>
                      <a:pt x="796585" y="447952"/>
                    </a:lnTo>
                    <a:lnTo>
                      <a:pt x="0" y="447952"/>
                    </a:lnTo>
                    <a:close/>
                  </a:path>
                </a:pathLst>
              </a:custGeom>
              <a:solidFill>
                <a:srgbClr val="0198C5">
                  <a:alpha val="80000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796585" cy="505102"/>
              </a:xfrm>
              <a:prstGeom prst="rect">
                <a:avLst/>
              </a:prstGeom>
            </p:spPr>
            <p:txBody>
              <a:bodyPr anchor="ctr" rtlCol="false" tIns="9429" lIns="9429" bIns="9429" rIns="9429"/>
              <a:lstStyle/>
              <a:p>
                <a:pPr algn="ctr">
                  <a:lnSpc>
                    <a:spcPts val="4473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819656" y="93442"/>
              <a:ext cx="2315145" cy="867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799404" y="76200"/>
              <a:ext cx="2315145" cy="867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89960" y="231339"/>
              <a:ext cx="5680898" cy="609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8"/>
                </a:lnSpc>
              </a:pPr>
              <a:r>
                <a:rPr lang="en-US" sz="3238" b="true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Seminário de Ciência e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884162" y="8479814"/>
            <a:ext cx="3956548" cy="1092996"/>
          </a:xfrm>
          <a:custGeom>
            <a:avLst/>
            <a:gdLst/>
            <a:ahLst/>
            <a:cxnLst/>
            <a:rect r="r" b="b" t="t" l="l"/>
            <a:pathLst>
              <a:path h="1092996" w="3956548">
                <a:moveTo>
                  <a:pt x="0" y="0"/>
                </a:moveTo>
                <a:lnTo>
                  <a:pt x="3956548" y="0"/>
                </a:lnTo>
                <a:lnTo>
                  <a:pt x="3956548" y="1092996"/>
                </a:lnTo>
                <a:lnTo>
                  <a:pt x="0" y="1092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0" y="9936452"/>
            <a:ext cx="9525000" cy="11906250"/>
            <a:chOff x="0" y="0"/>
            <a:chExt cx="12700000" cy="15875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9525000" y="0"/>
              <a:ext cx="3175000" cy="3175000"/>
              <a:chOff x="0" y="0"/>
              <a:chExt cx="986193" cy="986193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69" id="69"/>
          <p:cNvGrpSpPr/>
          <p:nvPr/>
        </p:nvGrpSpPr>
        <p:grpSpPr>
          <a:xfrm rot="-5400000">
            <a:off x="8318204" y="8745827"/>
            <a:ext cx="9525000" cy="11906250"/>
            <a:chOff x="0" y="0"/>
            <a:chExt cx="12700000" cy="15875000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117" id="11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8" id="118"/>
          <p:cNvSpPr txBox="true"/>
          <p:nvPr/>
        </p:nvSpPr>
        <p:spPr>
          <a:xfrm rot="0">
            <a:off x="758478" y="2018645"/>
            <a:ext cx="9800000" cy="15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4724"/>
              </a:lnSpc>
            </a:pPr>
            <a:r>
              <a:rPr sz="4000" b="1">
                <a:solidFill>
                  <a:srgbClr val="000000"/>
                </a:solidFill>
                <a:latin typeface="Lato Heavy"/>
              </a:rPr>
              <a:t>Problema e Hipótese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758478" y="3736534"/>
            <a:ext cx="9800000" cy="46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00000"/>
                </a:solidFill>
                <a:latin typeface="Arial"/>
              </a:rPr>
              <a:t>Pergunta de pesquisa — </a:t>
            </a:r>
            <a:r>
              <a:rPr b="0" sz="2000">
                <a:solidFill>
                  <a:srgbClr val="000000"/>
                </a:solidFill>
                <a:latin typeface="Arial"/>
              </a:rPr>
              <a:t>Quais são as diferenças práticas de desempenho entre eBPF, Sysstat e Prometheus no monitoramento de uma VNF, e qual tecnologia oferece menor sobrecarga sem comprometer a qualidade da coleta?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00000"/>
                </a:solidFill>
                <a:latin typeface="Arial"/>
              </a:rPr>
              <a:t>Hipótese — </a:t>
            </a:r>
            <a:r>
              <a:rPr b="0" sz="2000">
                <a:solidFill>
                  <a:srgbClr val="000000"/>
                </a:solidFill>
                <a:latin typeface="Arial"/>
              </a:rPr>
              <a:t>Por operar em nível de kernel, sem polling em espaço de usuário, o eBPF apresenta menor sobrecarga de monitoramento e, consequentemente, o menor tempo de resposta na coleta de métricas.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3192" y="356173"/>
            <a:ext cx="16735628" cy="1119763"/>
            <a:chOff x="0" y="0"/>
            <a:chExt cx="22314171" cy="149301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8598"/>
              <a:ext cx="22314171" cy="1354419"/>
              <a:chOff x="0" y="0"/>
              <a:chExt cx="51788682" cy="314345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8989" cy="8763"/>
              </a:xfrm>
              <a:custGeom>
                <a:avLst/>
                <a:gdLst/>
                <a:ahLst/>
                <a:cxnLst/>
                <a:rect r="r" b="b" t="t" l="l"/>
                <a:pathLst>
                  <a:path h="8763" w="38989">
                    <a:moveTo>
                      <a:pt x="0" y="0"/>
                    </a:moveTo>
                    <a:lnTo>
                      <a:pt x="38989" y="0"/>
                    </a:lnTo>
                    <a:lnTo>
                      <a:pt x="38989" y="8763"/>
                    </a:lnTo>
                    <a:lnTo>
                      <a:pt x="0" y="8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D050"/>
              </a:solidFill>
              <a:ln w="25550" cap="sq">
                <a:solidFill>
                  <a:srgbClr val="92D050"/>
                </a:solidFill>
                <a:prstDash val="solid"/>
                <a:miter/>
              </a:ln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9141893" y="130450"/>
              <a:ext cx="4055852" cy="756837"/>
              <a:chOff x="0" y="0"/>
              <a:chExt cx="2739324" cy="51116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739324" cy="511168"/>
              </a:xfrm>
              <a:custGeom>
                <a:avLst/>
                <a:gdLst/>
                <a:ahLst/>
                <a:cxnLst/>
                <a:rect r="r" b="b" t="t" l="l"/>
                <a:pathLst>
                  <a:path h="511168" w="2739324">
                    <a:moveTo>
                      <a:pt x="0" y="0"/>
                    </a:moveTo>
                    <a:lnTo>
                      <a:pt x="2739324" y="0"/>
                    </a:lnTo>
                    <a:lnTo>
                      <a:pt x="2739324" y="511168"/>
                    </a:lnTo>
                    <a:lnTo>
                      <a:pt x="0" y="511168"/>
                    </a:lnTo>
                    <a:close/>
                  </a:path>
                </a:pathLst>
              </a:custGeom>
              <a:solidFill>
                <a:srgbClr val="0AA041">
                  <a:alpha val="80000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57150"/>
                <a:ext cx="2739324" cy="568318"/>
              </a:xfrm>
              <a:prstGeom prst="rect">
                <a:avLst/>
              </a:prstGeom>
            </p:spPr>
            <p:txBody>
              <a:bodyPr anchor="ctr" rtlCol="false" tIns="8023" lIns="8023" bIns="8023" rIns="8023"/>
              <a:lstStyle/>
              <a:p>
                <a:pPr algn="r">
                  <a:lnSpc>
                    <a:spcPts val="4472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9141893" y="103486"/>
              <a:ext cx="3614136" cy="7838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299"/>
                </a:lnSpc>
              </a:pPr>
              <a:r>
                <a:rPr lang="en-US" b="true" sz="4299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957618" y="76200"/>
              <a:ext cx="3783172" cy="797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300"/>
                </a:lnSpc>
              </a:pPr>
              <a:r>
                <a:rPr lang="en-US" b="true" sz="430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2079630" y="137279"/>
              <a:ext cx="1250657" cy="703295"/>
              <a:chOff x="0" y="0"/>
              <a:chExt cx="796585" cy="4479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96585" cy="447952"/>
              </a:xfrm>
              <a:custGeom>
                <a:avLst/>
                <a:gdLst/>
                <a:ahLst/>
                <a:cxnLst/>
                <a:rect r="r" b="b" t="t" l="l"/>
                <a:pathLst>
                  <a:path h="447952" w="796585">
                    <a:moveTo>
                      <a:pt x="0" y="0"/>
                    </a:moveTo>
                    <a:lnTo>
                      <a:pt x="796585" y="0"/>
                    </a:lnTo>
                    <a:lnTo>
                      <a:pt x="796585" y="447952"/>
                    </a:lnTo>
                    <a:lnTo>
                      <a:pt x="0" y="447952"/>
                    </a:lnTo>
                    <a:close/>
                  </a:path>
                </a:pathLst>
              </a:custGeom>
              <a:solidFill>
                <a:srgbClr val="0198C5">
                  <a:alpha val="80000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796585" cy="505102"/>
              </a:xfrm>
              <a:prstGeom prst="rect">
                <a:avLst/>
              </a:prstGeom>
            </p:spPr>
            <p:txBody>
              <a:bodyPr anchor="ctr" rtlCol="false" tIns="9429" lIns="9429" bIns="9429" rIns="9429"/>
              <a:lstStyle/>
              <a:p>
                <a:pPr algn="ctr">
                  <a:lnSpc>
                    <a:spcPts val="4473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819656" y="93442"/>
              <a:ext cx="2315145" cy="867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799404" y="76200"/>
              <a:ext cx="2315145" cy="867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89960" y="231339"/>
              <a:ext cx="5680898" cy="609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8"/>
                </a:lnSpc>
              </a:pPr>
              <a:r>
                <a:rPr lang="en-US" sz="3238" b="true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Seminário de Ciência e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884162" y="8479814"/>
            <a:ext cx="3956548" cy="1092996"/>
          </a:xfrm>
          <a:custGeom>
            <a:avLst/>
            <a:gdLst/>
            <a:ahLst/>
            <a:cxnLst/>
            <a:rect r="r" b="b" t="t" l="l"/>
            <a:pathLst>
              <a:path h="1092996" w="3956548">
                <a:moveTo>
                  <a:pt x="0" y="0"/>
                </a:moveTo>
                <a:lnTo>
                  <a:pt x="3956548" y="0"/>
                </a:lnTo>
                <a:lnTo>
                  <a:pt x="3956548" y="1092996"/>
                </a:lnTo>
                <a:lnTo>
                  <a:pt x="0" y="1092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0" y="9936452"/>
            <a:ext cx="9525000" cy="11906250"/>
            <a:chOff x="0" y="0"/>
            <a:chExt cx="12700000" cy="15875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9525000" y="0"/>
              <a:ext cx="3175000" cy="3175000"/>
              <a:chOff x="0" y="0"/>
              <a:chExt cx="986193" cy="986193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69" id="69"/>
          <p:cNvGrpSpPr/>
          <p:nvPr/>
        </p:nvGrpSpPr>
        <p:grpSpPr>
          <a:xfrm rot="-5400000">
            <a:off x="8318204" y="8745827"/>
            <a:ext cx="9525000" cy="11906250"/>
            <a:chOff x="0" y="0"/>
            <a:chExt cx="12700000" cy="15875000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117" id="11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8" id="118"/>
          <p:cNvSpPr txBox="true"/>
          <p:nvPr/>
        </p:nvSpPr>
        <p:spPr>
          <a:xfrm rot="0">
            <a:off x="758478" y="2018645"/>
            <a:ext cx="9800000" cy="15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4724"/>
              </a:lnSpc>
            </a:pPr>
            <a:r>
              <a:rPr sz="4000" b="1">
                <a:solidFill>
                  <a:srgbClr val="000000"/>
                </a:solidFill>
                <a:latin typeface="Lato Heavy"/>
              </a:rPr>
              <a:t>Objetivos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758478" y="3736534"/>
            <a:ext cx="9800000" cy="46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00000"/>
                </a:solidFill>
                <a:latin typeface="Arial"/>
              </a:rPr>
              <a:t>Objetivo geral — </a:t>
            </a:r>
            <a:r>
              <a:rPr b="0" sz="2000">
                <a:solidFill>
                  <a:srgbClr val="000000"/>
                </a:solidFill>
                <a:latin typeface="Arial"/>
              </a:rPr>
              <a:t>Compreender como eBPF, Sysstat e Prometheus influenciam, em tempo de resposta e sobrecarga, o monitoramento de uma VNF sob diferentes volumes de tráfego.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00000"/>
                </a:solidFill>
                <a:latin typeface="Arial"/>
              </a:rPr>
              <a:t>Objetivos específicos — </a:t>
            </a:r>
            <a:r>
              <a:rPr b="0" sz="2000">
                <a:solidFill>
                  <a:srgbClr val="000000"/>
                </a:solidFill>
                <a:latin typeface="Arial"/>
              </a:rPr>
              <a:t>Implementar os três coletores sobre um WAF; executar experimentos com no mínimo três volumes de carga, medindo tempo de extração, CPU e memória; compreender vantagens e limitações de cada abordagem.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3192" y="356173"/>
            <a:ext cx="16735628" cy="1119763"/>
            <a:chOff x="0" y="0"/>
            <a:chExt cx="22314171" cy="149301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8598"/>
              <a:ext cx="22314171" cy="1354419"/>
              <a:chOff x="0" y="0"/>
              <a:chExt cx="51788682" cy="314345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8989" cy="8763"/>
              </a:xfrm>
              <a:custGeom>
                <a:avLst/>
                <a:gdLst/>
                <a:ahLst/>
                <a:cxnLst/>
                <a:rect r="r" b="b" t="t" l="l"/>
                <a:pathLst>
                  <a:path h="8763" w="38989">
                    <a:moveTo>
                      <a:pt x="0" y="0"/>
                    </a:moveTo>
                    <a:lnTo>
                      <a:pt x="38989" y="0"/>
                    </a:lnTo>
                    <a:lnTo>
                      <a:pt x="38989" y="8763"/>
                    </a:lnTo>
                    <a:lnTo>
                      <a:pt x="0" y="8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D050"/>
              </a:solidFill>
              <a:ln w="25550" cap="sq">
                <a:solidFill>
                  <a:srgbClr val="92D050"/>
                </a:solidFill>
                <a:prstDash val="solid"/>
                <a:miter/>
              </a:ln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9141893" y="130450"/>
              <a:ext cx="4055852" cy="756837"/>
              <a:chOff x="0" y="0"/>
              <a:chExt cx="2739324" cy="51116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739324" cy="511168"/>
              </a:xfrm>
              <a:custGeom>
                <a:avLst/>
                <a:gdLst/>
                <a:ahLst/>
                <a:cxnLst/>
                <a:rect r="r" b="b" t="t" l="l"/>
                <a:pathLst>
                  <a:path h="511168" w="2739324">
                    <a:moveTo>
                      <a:pt x="0" y="0"/>
                    </a:moveTo>
                    <a:lnTo>
                      <a:pt x="2739324" y="0"/>
                    </a:lnTo>
                    <a:lnTo>
                      <a:pt x="2739324" y="511168"/>
                    </a:lnTo>
                    <a:lnTo>
                      <a:pt x="0" y="511168"/>
                    </a:lnTo>
                    <a:close/>
                  </a:path>
                </a:pathLst>
              </a:custGeom>
              <a:solidFill>
                <a:srgbClr val="0AA041">
                  <a:alpha val="80000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57150"/>
                <a:ext cx="2739324" cy="568318"/>
              </a:xfrm>
              <a:prstGeom prst="rect">
                <a:avLst/>
              </a:prstGeom>
            </p:spPr>
            <p:txBody>
              <a:bodyPr anchor="ctr" rtlCol="false" tIns="8023" lIns="8023" bIns="8023" rIns="8023"/>
              <a:lstStyle/>
              <a:p>
                <a:pPr algn="r">
                  <a:lnSpc>
                    <a:spcPts val="4472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9141893" y="103486"/>
              <a:ext cx="3614136" cy="7838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299"/>
                </a:lnSpc>
              </a:pPr>
              <a:r>
                <a:rPr lang="en-US" b="true" sz="4299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957618" y="76200"/>
              <a:ext cx="3783172" cy="797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300"/>
                </a:lnSpc>
              </a:pPr>
              <a:r>
                <a:rPr lang="en-US" b="true" sz="430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2079630" y="137279"/>
              <a:ext cx="1250657" cy="703295"/>
              <a:chOff x="0" y="0"/>
              <a:chExt cx="796585" cy="4479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96585" cy="447952"/>
              </a:xfrm>
              <a:custGeom>
                <a:avLst/>
                <a:gdLst/>
                <a:ahLst/>
                <a:cxnLst/>
                <a:rect r="r" b="b" t="t" l="l"/>
                <a:pathLst>
                  <a:path h="447952" w="796585">
                    <a:moveTo>
                      <a:pt x="0" y="0"/>
                    </a:moveTo>
                    <a:lnTo>
                      <a:pt x="796585" y="0"/>
                    </a:lnTo>
                    <a:lnTo>
                      <a:pt x="796585" y="447952"/>
                    </a:lnTo>
                    <a:lnTo>
                      <a:pt x="0" y="447952"/>
                    </a:lnTo>
                    <a:close/>
                  </a:path>
                </a:pathLst>
              </a:custGeom>
              <a:solidFill>
                <a:srgbClr val="0198C5">
                  <a:alpha val="80000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796585" cy="505102"/>
              </a:xfrm>
              <a:prstGeom prst="rect">
                <a:avLst/>
              </a:prstGeom>
            </p:spPr>
            <p:txBody>
              <a:bodyPr anchor="ctr" rtlCol="false" tIns="9429" lIns="9429" bIns="9429" rIns="9429"/>
              <a:lstStyle/>
              <a:p>
                <a:pPr algn="ctr">
                  <a:lnSpc>
                    <a:spcPts val="4473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819656" y="93442"/>
              <a:ext cx="2315145" cy="867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799404" y="76200"/>
              <a:ext cx="2315145" cy="867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89960" y="231339"/>
              <a:ext cx="5680898" cy="609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8"/>
                </a:lnSpc>
              </a:pPr>
              <a:r>
                <a:rPr lang="en-US" sz="3238" b="true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Seminário de Ciência e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884162" y="8479814"/>
            <a:ext cx="3956548" cy="1092996"/>
          </a:xfrm>
          <a:custGeom>
            <a:avLst/>
            <a:gdLst/>
            <a:ahLst/>
            <a:cxnLst/>
            <a:rect r="r" b="b" t="t" l="l"/>
            <a:pathLst>
              <a:path h="1092996" w="3956548">
                <a:moveTo>
                  <a:pt x="0" y="0"/>
                </a:moveTo>
                <a:lnTo>
                  <a:pt x="3956548" y="0"/>
                </a:lnTo>
                <a:lnTo>
                  <a:pt x="3956548" y="1092996"/>
                </a:lnTo>
                <a:lnTo>
                  <a:pt x="0" y="1092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0" y="9936452"/>
            <a:ext cx="9525000" cy="11906250"/>
            <a:chOff x="0" y="0"/>
            <a:chExt cx="12700000" cy="15875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9525000" y="0"/>
              <a:ext cx="3175000" cy="3175000"/>
              <a:chOff x="0" y="0"/>
              <a:chExt cx="986193" cy="986193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69" id="69"/>
          <p:cNvGrpSpPr/>
          <p:nvPr/>
        </p:nvGrpSpPr>
        <p:grpSpPr>
          <a:xfrm rot="-5400000">
            <a:off x="8318204" y="8745827"/>
            <a:ext cx="9525000" cy="11906250"/>
            <a:chOff x="0" y="0"/>
            <a:chExt cx="12700000" cy="15875000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117" id="11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8" id="118"/>
          <p:cNvSpPr txBox="true"/>
          <p:nvPr/>
        </p:nvSpPr>
        <p:spPr>
          <a:xfrm rot="0">
            <a:off x="758478" y="2018645"/>
            <a:ext cx="9800000" cy="15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4724"/>
              </a:lnSpc>
            </a:pPr>
            <a:r>
              <a:rPr sz="4000" b="1">
                <a:solidFill>
                  <a:srgbClr val="000000"/>
                </a:solidFill>
                <a:latin typeface="Lato Heavy"/>
              </a:rPr>
              <a:t>As Três Ferramentas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758478" y="3736534"/>
            <a:ext cx="9800000" cy="46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b="1" sz="1800">
                <a:solidFill>
                  <a:srgbClr val="000000"/>
                </a:solidFill>
                <a:latin typeface="Arial"/>
              </a:rPr>
              <a:t>eBPF — </a:t>
            </a:r>
            <a:r>
              <a:rPr b="0" sz="1800">
                <a:solidFill>
                  <a:srgbClr val="000000"/>
                </a:solidFill>
                <a:latin typeface="Arial"/>
              </a:rPr>
              <a:t>Programas anexados a kprobes no kernel (tcp_sendmsg, tcp_cleanup_rbuf) acumulam contadores diretamente no kernel; o espaço de usuário só lê o resultado consolidado via mapas eBPF.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b="1" sz="1800">
                <a:solidFill>
                  <a:srgbClr val="000000"/>
                </a:solidFill>
                <a:latin typeface="Arial"/>
              </a:rPr>
              <a:t>Sysstat — </a:t>
            </a:r>
            <a:r>
              <a:rPr b="0" sz="1800">
                <a:solidFill>
                  <a:srgbClr val="000000"/>
                </a:solidFill>
                <a:latin typeface="Arial"/>
              </a:rPr>
              <a:t>Faz polling periódico de /proc/net/dev e /proc/[pid]/stat, calculando deltas entre amostras — esse processamento concorre por CPU com a VNF monitorada.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b="1" sz="1800">
                <a:solidFill>
                  <a:srgbClr val="000000"/>
                </a:solidFill>
                <a:latin typeface="Arial"/>
              </a:rPr>
              <a:t>Prometheus — </a:t>
            </a:r>
            <a:r>
              <a:rPr b="0" sz="1800">
                <a:solidFill>
                  <a:srgbClr val="000000"/>
                </a:solidFill>
                <a:latin typeface="Arial"/>
              </a:rPr>
              <a:t>Reaproveita a coleta do Sysstat e mantém um servidor HTTP no processo, serializando as métricas em memória; no experimento, o endpoint /metrics ficou disponível mas não foi consultado — a sobrecarga adicional vem de manter esse servidor ocioso e da serialização contínua.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3192" y="356173"/>
            <a:ext cx="16735628" cy="1119763"/>
            <a:chOff x="0" y="0"/>
            <a:chExt cx="22314171" cy="149301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8598"/>
              <a:ext cx="22314171" cy="1354419"/>
              <a:chOff x="0" y="0"/>
              <a:chExt cx="51788682" cy="314345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8989" cy="8763"/>
              </a:xfrm>
              <a:custGeom>
                <a:avLst/>
                <a:gdLst/>
                <a:ahLst/>
                <a:cxnLst/>
                <a:rect r="r" b="b" t="t" l="l"/>
                <a:pathLst>
                  <a:path h="8763" w="38989">
                    <a:moveTo>
                      <a:pt x="0" y="0"/>
                    </a:moveTo>
                    <a:lnTo>
                      <a:pt x="38989" y="0"/>
                    </a:lnTo>
                    <a:lnTo>
                      <a:pt x="38989" y="8763"/>
                    </a:lnTo>
                    <a:lnTo>
                      <a:pt x="0" y="8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D050"/>
              </a:solidFill>
              <a:ln w="25550" cap="sq">
                <a:solidFill>
                  <a:srgbClr val="92D050"/>
                </a:solidFill>
                <a:prstDash val="solid"/>
                <a:miter/>
              </a:ln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9141893" y="130450"/>
              <a:ext cx="4055852" cy="756837"/>
              <a:chOff x="0" y="0"/>
              <a:chExt cx="2739324" cy="51116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739324" cy="511168"/>
              </a:xfrm>
              <a:custGeom>
                <a:avLst/>
                <a:gdLst/>
                <a:ahLst/>
                <a:cxnLst/>
                <a:rect r="r" b="b" t="t" l="l"/>
                <a:pathLst>
                  <a:path h="511168" w="2739324">
                    <a:moveTo>
                      <a:pt x="0" y="0"/>
                    </a:moveTo>
                    <a:lnTo>
                      <a:pt x="2739324" y="0"/>
                    </a:lnTo>
                    <a:lnTo>
                      <a:pt x="2739324" y="511168"/>
                    </a:lnTo>
                    <a:lnTo>
                      <a:pt x="0" y="511168"/>
                    </a:lnTo>
                    <a:close/>
                  </a:path>
                </a:pathLst>
              </a:custGeom>
              <a:solidFill>
                <a:srgbClr val="0AA041">
                  <a:alpha val="80000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57150"/>
                <a:ext cx="2739324" cy="568318"/>
              </a:xfrm>
              <a:prstGeom prst="rect">
                <a:avLst/>
              </a:prstGeom>
            </p:spPr>
            <p:txBody>
              <a:bodyPr anchor="ctr" rtlCol="false" tIns="8023" lIns="8023" bIns="8023" rIns="8023"/>
              <a:lstStyle/>
              <a:p>
                <a:pPr algn="r">
                  <a:lnSpc>
                    <a:spcPts val="4472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9141893" y="103486"/>
              <a:ext cx="3614136" cy="7838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299"/>
                </a:lnSpc>
              </a:pPr>
              <a:r>
                <a:rPr lang="en-US" b="true" sz="4299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957618" y="76200"/>
              <a:ext cx="3783172" cy="797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300"/>
                </a:lnSpc>
              </a:pPr>
              <a:r>
                <a:rPr lang="en-US" b="true" sz="430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2079630" y="137279"/>
              <a:ext cx="1250657" cy="703295"/>
              <a:chOff x="0" y="0"/>
              <a:chExt cx="796585" cy="4479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96585" cy="447952"/>
              </a:xfrm>
              <a:custGeom>
                <a:avLst/>
                <a:gdLst/>
                <a:ahLst/>
                <a:cxnLst/>
                <a:rect r="r" b="b" t="t" l="l"/>
                <a:pathLst>
                  <a:path h="447952" w="796585">
                    <a:moveTo>
                      <a:pt x="0" y="0"/>
                    </a:moveTo>
                    <a:lnTo>
                      <a:pt x="796585" y="0"/>
                    </a:lnTo>
                    <a:lnTo>
                      <a:pt x="796585" y="447952"/>
                    </a:lnTo>
                    <a:lnTo>
                      <a:pt x="0" y="447952"/>
                    </a:lnTo>
                    <a:close/>
                  </a:path>
                </a:pathLst>
              </a:custGeom>
              <a:solidFill>
                <a:srgbClr val="0198C5">
                  <a:alpha val="80000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796585" cy="505102"/>
              </a:xfrm>
              <a:prstGeom prst="rect">
                <a:avLst/>
              </a:prstGeom>
            </p:spPr>
            <p:txBody>
              <a:bodyPr anchor="ctr" rtlCol="false" tIns="9429" lIns="9429" bIns="9429" rIns="9429"/>
              <a:lstStyle/>
              <a:p>
                <a:pPr algn="ctr">
                  <a:lnSpc>
                    <a:spcPts val="4473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819656" y="93442"/>
              <a:ext cx="2315145" cy="867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799404" y="76200"/>
              <a:ext cx="2315145" cy="867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89960" y="231339"/>
              <a:ext cx="5680898" cy="609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8"/>
                </a:lnSpc>
              </a:pPr>
              <a:r>
                <a:rPr lang="en-US" sz="3238" b="true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Seminário de Ciência e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884162" y="8479814"/>
            <a:ext cx="3956548" cy="1092996"/>
          </a:xfrm>
          <a:custGeom>
            <a:avLst/>
            <a:gdLst/>
            <a:ahLst/>
            <a:cxnLst/>
            <a:rect r="r" b="b" t="t" l="l"/>
            <a:pathLst>
              <a:path h="1092996" w="3956548">
                <a:moveTo>
                  <a:pt x="0" y="0"/>
                </a:moveTo>
                <a:lnTo>
                  <a:pt x="3956548" y="0"/>
                </a:lnTo>
                <a:lnTo>
                  <a:pt x="3956548" y="1092996"/>
                </a:lnTo>
                <a:lnTo>
                  <a:pt x="0" y="1092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0" y="9936452"/>
            <a:ext cx="9525000" cy="11906250"/>
            <a:chOff x="0" y="0"/>
            <a:chExt cx="12700000" cy="15875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9525000" y="0"/>
              <a:ext cx="3175000" cy="3175000"/>
              <a:chOff x="0" y="0"/>
              <a:chExt cx="986193" cy="986193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69" id="69"/>
          <p:cNvGrpSpPr/>
          <p:nvPr/>
        </p:nvGrpSpPr>
        <p:grpSpPr>
          <a:xfrm rot="-5400000">
            <a:off x="8318204" y="8745827"/>
            <a:ext cx="9525000" cy="11906250"/>
            <a:chOff x="0" y="0"/>
            <a:chExt cx="12700000" cy="15875000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117" id="11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8" id="118"/>
          <p:cNvSpPr txBox="true"/>
          <p:nvPr/>
        </p:nvSpPr>
        <p:spPr>
          <a:xfrm rot="0">
            <a:off x="758478" y="2018645"/>
            <a:ext cx="9800000" cy="15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4724"/>
              </a:lnSpc>
            </a:pPr>
            <a:r>
              <a:rPr sz="4000" b="1">
                <a:solidFill>
                  <a:srgbClr val="000000"/>
                </a:solidFill>
                <a:latin typeface="Lato Heavy"/>
              </a:rPr>
              <a:t>Lacuna na Literatura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758478" y="3736534"/>
            <a:ext cx="9800000" cy="46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00000"/>
                </a:solidFill>
                <a:latin typeface="Arial"/>
              </a:rPr>
              <a:t>O que já existe — </a:t>
            </a:r>
            <a:r>
              <a:rPr b="0" sz="2000">
                <a:solidFill>
                  <a:srgbClr val="000000"/>
                </a:solidFill>
                <a:latin typeface="Arial"/>
              </a:rPr>
              <a:t>Cassagnes et al. (2020) comparam eBPF a ferramentas de polling; outros trabalhos avaliam Sysstat ou Prometheus isoladamente, sem uma VNF real como referência comum.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00000"/>
                </a:solidFill>
                <a:latin typeface="Arial"/>
              </a:rPr>
              <a:t>O que falta — </a:t>
            </a:r>
            <a:r>
              <a:rPr b="0" sz="2000">
                <a:solidFill>
                  <a:srgbClr val="000000"/>
                </a:solidFill>
                <a:latin typeface="Arial"/>
              </a:rPr>
              <a:t>Nenhum estudo comparou as três ferramentas juntas, no mesmo ambiente de VNF, sob cargas controladas e crescentes — é essa lacuna que este trabalho busca preencher.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3192" y="356173"/>
            <a:ext cx="16735628" cy="1119763"/>
            <a:chOff x="0" y="0"/>
            <a:chExt cx="22314171" cy="149301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8598"/>
              <a:ext cx="22314171" cy="1354419"/>
              <a:chOff x="0" y="0"/>
              <a:chExt cx="51788682" cy="314345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8989" cy="8763"/>
              </a:xfrm>
              <a:custGeom>
                <a:avLst/>
                <a:gdLst/>
                <a:ahLst/>
                <a:cxnLst/>
                <a:rect r="r" b="b" t="t" l="l"/>
                <a:pathLst>
                  <a:path h="8763" w="38989">
                    <a:moveTo>
                      <a:pt x="0" y="0"/>
                    </a:moveTo>
                    <a:lnTo>
                      <a:pt x="38989" y="0"/>
                    </a:lnTo>
                    <a:lnTo>
                      <a:pt x="38989" y="8763"/>
                    </a:lnTo>
                    <a:lnTo>
                      <a:pt x="0" y="8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D050"/>
              </a:solidFill>
              <a:ln w="25550" cap="sq">
                <a:solidFill>
                  <a:srgbClr val="92D050"/>
                </a:solidFill>
                <a:prstDash val="solid"/>
                <a:miter/>
              </a:ln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9141893" y="130450"/>
              <a:ext cx="4055852" cy="756837"/>
              <a:chOff x="0" y="0"/>
              <a:chExt cx="2739324" cy="51116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739324" cy="511168"/>
              </a:xfrm>
              <a:custGeom>
                <a:avLst/>
                <a:gdLst/>
                <a:ahLst/>
                <a:cxnLst/>
                <a:rect r="r" b="b" t="t" l="l"/>
                <a:pathLst>
                  <a:path h="511168" w="2739324">
                    <a:moveTo>
                      <a:pt x="0" y="0"/>
                    </a:moveTo>
                    <a:lnTo>
                      <a:pt x="2739324" y="0"/>
                    </a:lnTo>
                    <a:lnTo>
                      <a:pt x="2739324" y="511168"/>
                    </a:lnTo>
                    <a:lnTo>
                      <a:pt x="0" y="511168"/>
                    </a:lnTo>
                    <a:close/>
                  </a:path>
                </a:pathLst>
              </a:custGeom>
              <a:solidFill>
                <a:srgbClr val="0AA041">
                  <a:alpha val="80000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57150"/>
                <a:ext cx="2739324" cy="568318"/>
              </a:xfrm>
              <a:prstGeom prst="rect">
                <a:avLst/>
              </a:prstGeom>
            </p:spPr>
            <p:txBody>
              <a:bodyPr anchor="ctr" rtlCol="false" tIns="8023" lIns="8023" bIns="8023" rIns="8023"/>
              <a:lstStyle/>
              <a:p>
                <a:pPr algn="r">
                  <a:lnSpc>
                    <a:spcPts val="4472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9141893" y="103486"/>
              <a:ext cx="3614136" cy="7838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299"/>
                </a:lnSpc>
              </a:pPr>
              <a:r>
                <a:rPr lang="en-US" b="true" sz="4299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957618" y="76200"/>
              <a:ext cx="3783172" cy="797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300"/>
                </a:lnSpc>
              </a:pPr>
              <a:r>
                <a:rPr lang="en-US" b="true" sz="430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2079630" y="137279"/>
              <a:ext cx="1250657" cy="703295"/>
              <a:chOff x="0" y="0"/>
              <a:chExt cx="796585" cy="4479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96585" cy="447952"/>
              </a:xfrm>
              <a:custGeom>
                <a:avLst/>
                <a:gdLst/>
                <a:ahLst/>
                <a:cxnLst/>
                <a:rect r="r" b="b" t="t" l="l"/>
                <a:pathLst>
                  <a:path h="447952" w="796585">
                    <a:moveTo>
                      <a:pt x="0" y="0"/>
                    </a:moveTo>
                    <a:lnTo>
                      <a:pt x="796585" y="0"/>
                    </a:lnTo>
                    <a:lnTo>
                      <a:pt x="796585" y="447952"/>
                    </a:lnTo>
                    <a:lnTo>
                      <a:pt x="0" y="447952"/>
                    </a:lnTo>
                    <a:close/>
                  </a:path>
                </a:pathLst>
              </a:custGeom>
              <a:solidFill>
                <a:srgbClr val="0198C5">
                  <a:alpha val="80000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796585" cy="505102"/>
              </a:xfrm>
              <a:prstGeom prst="rect">
                <a:avLst/>
              </a:prstGeom>
            </p:spPr>
            <p:txBody>
              <a:bodyPr anchor="ctr" rtlCol="false" tIns="9429" lIns="9429" bIns="9429" rIns="9429"/>
              <a:lstStyle/>
              <a:p>
                <a:pPr algn="ctr">
                  <a:lnSpc>
                    <a:spcPts val="4473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819656" y="93442"/>
              <a:ext cx="2315145" cy="867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799404" y="76200"/>
              <a:ext cx="2315145" cy="867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89960" y="231339"/>
              <a:ext cx="5680898" cy="609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8"/>
                </a:lnSpc>
              </a:pPr>
              <a:r>
                <a:rPr lang="en-US" sz="3238" b="true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Seminário de Ciência e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884162" y="8479814"/>
            <a:ext cx="3956548" cy="1092996"/>
          </a:xfrm>
          <a:custGeom>
            <a:avLst/>
            <a:gdLst/>
            <a:ahLst/>
            <a:cxnLst/>
            <a:rect r="r" b="b" t="t" l="l"/>
            <a:pathLst>
              <a:path h="1092996" w="3956548">
                <a:moveTo>
                  <a:pt x="0" y="0"/>
                </a:moveTo>
                <a:lnTo>
                  <a:pt x="3956548" y="0"/>
                </a:lnTo>
                <a:lnTo>
                  <a:pt x="3956548" y="1092996"/>
                </a:lnTo>
                <a:lnTo>
                  <a:pt x="0" y="1092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0" y="9936452"/>
            <a:ext cx="9525000" cy="11906250"/>
            <a:chOff x="0" y="0"/>
            <a:chExt cx="12700000" cy="15875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9525000" y="0"/>
              <a:ext cx="3175000" cy="3175000"/>
              <a:chOff x="0" y="0"/>
              <a:chExt cx="986193" cy="986193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69" id="69"/>
          <p:cNvGrpSpPr/>
          <p:nvPr/>
        </p:nvGrpSpPr>
        <p:grpSpPr>
          <a:xfrm rot="-5400000">
            <a:off x="8318204" y="8745827"/>
            <a:ext cx="9525000" cy="11906250"/>
            <a:chOff x="0" y="0"/>
            <a:chExt cx="12700000" cy="15875000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117" id="11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8" id="118"/>
          <p:cNvSpPr txBox="true"/>
          <p:nvPr/>
        </p:nvSpPr>
        <p:spPr>
          <a:xfrm rot="0">
            <a:off x="758478" y="2018645"/>
            <a:ext cx="9800000" cy="15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4724"/>
              </a:lnSpc>
            </a:pPr>
            <a:r>
              <a:rPr sz="4000" b="1">
                <a:solidFill>
                  <a:srgbClr val="000000"/>
                </a:solidFill>
                <a:latin typeface="Lato Heavy"/>
              </a:rPr>
              <a:t>Metodologia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758478" y="3736534"/>
            <a:ext cx="9800000" cy="46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Abordagem — </a:t>
            </a:r>
            <a:r>
              <a:rPr b="0" sz="1700">
                <a:solidFill>
                  <a:srgbClr val="000000"/>
                </a:solidFill>
                <a:latin typeface="Arial"/>
              </a:rPr>
              <a:t>Pesquisa experimental, comparativa e quantitativa, com coleta sistemática de métricas sob condições controladas e análise estatística dos resultados.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VNF utilizada — </a:t>
            </a:r>
            <a:r>
              <a:rPr b="0" sz="1700">
                <a:solidFill>
                  <a:srgbClr val="000000"/>
                </a:solidFill>
                <a:latin typeface="Arial"/>
              </a:rPr>
              <a:t>Um WAF (Web Application Firewall) simplificado em Python, inspecionando SQLi, XSS, Path Traversal, RCE e Null Byte, como função de rede representativa.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Carga de tráfego — </a:t>
            </a:r>
            <a:r>
              <a:rPr b="0" sz="1700">
                <a:solidFill>
                  <a:srgbClr val="000000"/>
                </a:solidFill>
                <a:latin typeface="Arial"/>
              </a:rPr>
              <a:t>Quatro volumes de tráfego (100 mil a 2 milhões de mensagens), sempre com a mesma composição de 60% de tráfego benigno e 40% malicioso, com seed fixa para reprodutibilidade.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Ambiente — </a:t>
            </a:r>
            <a:r>
              <a:rPr b="0" sz="1700">
                <a:solidFill>
                  <a:srgbClr val="000000"/>
                </a:solidFill>
                <a:latin typeface="Arial"/>
              </a:rPr>
              <a:t>Contêineres Docker isolados por coletor, em hardware fixo: AMD Ryzen 5 5500, 16 GB de RAM, Ubuntu 26.04 LTS, kernel 7.0.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3192" y="356173"/>
            <a:ext cx="16735628" cy="1119763"/>
            <a:chOff x="0" y="0"/>
            <a:chExt cx="22314171" cy="149301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8598"/>
              <a:ext cx="22314171" cy="1354419"/>
              <a:chOff x="0" y="0"/>
              <a:chExt cx="51788682" cy="314345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8989" cy="8763"/>
              </a:xfrm>
              <a:custGeom>
                <a:avLst/>
                <a:gdLst/>
                <a:ahLst/>
                <a:cxnLst/>
                <a:rect r="r" b="b" t="t" l="l"/>
                <a:pathLst>
                  <a:path h="8763" w="38989">
                    <a:moveTo>
                      <a:pt x="0" y="0"/>
                    </a:moveTo>
                    <a:lnTo>
                      <a:pt x="38989" y="0"/>
                    </a:lnTo>
                    <a:lnTo>
                      <a:pt x="38989" y="8763"/>
                    </a:lnTo>
                    <a:lnTo>
                      <a:pt x="0" y="8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D050"/>
              </a:solidFill>
              <a:ln w="25550" cap="sq">
                <a:solidFill>
                  <a:srgbClr val="92D050"/>
                </a:solidFill>
                <a:prstDash val="solid"/>
                <a:miter/>
              </a:ln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9141893" y="130450"/>
              <a:ext cx="4055852" cy="756837"/>
              <a:chOff x="0" y="0"/>
              <a:chExt cx="2739324" cy="51116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739324" cy="511168"/>
              </a:xfrm>
              <a:custGeom>
                <a:avLst/>
                <a:gdLst/>
                <a:ahLst/>
                <a:cxnLst/>
                <a:rect r="r" b="b" t="t" l="l"/>
                <a:pathLst>
                  <a:path h="511168" w="2739324">
                    <a:moveTo>
                      <a:pt x="0" y="0"/>
                    </a:moveTo>
                    <a:lnTo>
                      <a:pt x="2739324" y="0"/>
                    </a:lnTo>
                    <a:lnTo>
                      <a:pt x="2739324" y="511168"/>
                    </a:lnTo>
                    <a:lnTo>
                      <a:pt x="0" y="511168"/>
                    </a:lnTo>
                    <a:close/>
                  </a:path>
                </a:pathLst>
              </a:custGeom>
              <a:solidFill>
                <a:srgbClr val="0AA041">
                  <a:alpha val="80000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57150"/>
                <a:ext cx="2739324" cy="568318"/>
              </a:xfrm>
              <a:prstGeom prst="rect">
                <a:avLst/>
              </a:prstGeom>
            </p:spPr>
            <p:txBody>
              <a:bodyPr anchor="ctr" rtlCol="false" tIns="8023" lIns="8023" bIns="8023" rIns="8023"/>
              <a:lstStyle/>
              <a:p>
                <a:pPr algn="r">
                  <a:lnSpc>
                    <a:spcPts val="4472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9141893" y="103486"/>
              <a:ext cx="3614136" cy="7838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299"/>
                </a:lnSpc>
              </a:pPr>
              <a:r>
                <a:rPr lang="en-US" b="true" sz="4299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957618" y="76200"/>
              <a:ext cx="3783172" cy="797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300"/>
                </a:lnSpc>
              </a:pPr>
              <a:r>
                <a:rPr lang="en-US" b="true" sz="430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2079630" y="137279"/>
              <a:ext cx="1250657" cy="703295"/>
              <a:chOff x="0" y="0"/>
              <a:chExt cx="796585" cy="4479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96585" cy="447952"/>
              </a:xfrm>
              <a:custGeom>
                <a:avLst/>
                <a:gdLst/>
                <a:ahLst/>
                <a:cxnLst/>
                <a:rect r="r" b="b" t="t" l="l"/>
                <a:pathLst>
                  <a:path h="447952" w="796585">
                    <a:moveTo>
                      <a:pt x="0" y="0"/>
                    </a:moveTo>
                    <a:lnTo>
                      <a:pt x="796585" y="0"/>
                    </a:lnTo>
                    <a:lnTo>
                      <a:pt x="796585" y="447952"/>
                    </a:lnTo>
                    <a:lnTo>
                      <a:pt x="0" y="447952"/>
                    </a:lnTo>
                    <a:close/>
                  </a:path>
                </a:pathLst>
              </a:custGeom>
              <a:solidFill>
                <a:srgbClr val="0198C5">
                  <a:alpha val="80000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796585" cy="505102"/>
              </a:xfrm>
              <a:prstGeom prst="rect">
                <a:avLst/>
              </a:prstGeom>
            </p:spPr>
            <p:txBody>
              <a:bodyPr anchor="ctr" rtlCol="false" tIns="9429" lIns="9429" bIns="9429" rIns="9429"/>
              <a:lstStyle/>
              <a:p>
                <a:pPr algn="ctr">
                  <a:lnSpc>
                    <a:spcPts val="4473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819656" y="93442"/>
              <a:ext cx="2315145" cy="867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799404" y="76200"/>
              <a:ext cx="2315145" cy="867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89960" y="231339"/>
              <a:ext cx="5680898" cy="609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8"/>
                </a:lnSpc>
              </a:pPr>
              <a:r>
                <a:rPr lang="en-US" sz="3238" b="true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Seminário de Ciência e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884162" y="8479814"/>
            <a:ext cx="3956548" cy="1092996"/>
          </a:xfrm>
          <a:custGeom>
            <a:avLst/>
            <a:gdLst/>
            <a:ahLst/>
            <a:cxnLst/>
            <a:rect r="r" b="b" t="t" l="l"/>
            <a:pathLst>
              <a:path h="1092996" w="3956548">
                <a:moveTo>
                  <a:pt x="0" y="0"/>
                </a:moveTo>
                <a:lnTo>
                  <a:pt x="3956548" y="0"/>
                </a:lnTo>
                <a:lnTo>
                  <a:pt x="3956548" y="1092996"/>
                </a:lnTo>
                <a:lnTo>
                  <a:pt x="0" y="1092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0" y="9936452"/>
            <a:ext cx="9525000" cy="11906250"/>
            <a:chOff x="0" y="0"/>
            <a:chExt cx="12700000" cy="15875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9525000" y="0"/>
              <a:ext cx="3175000" cy="3175000"/>
              <a:chOff x="0" y="0"/>
              <a:chExt cx="986193" cy="986193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69" id="69"/>
          <p:cNvGrpSpPr/>
          <p:nvPr/>
        </p:nvGrpSpPr>
        <p:grpSpPr>
          <a:xfrm rot="-5400000">
            <a:off x="8318204" y="8745827"/>
            <a:ext cx="9525000" cy="11906250"/>
            <a:chOff x="0" y="0"/>
            <a:chExt cx="12700000" cy="15875000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117" id="11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8" id="118"/>
          <p:cNvSpPr txBox="true"/>
          <p:nvPr/>
        </p:nvSpPr>
        <p:spPr>
          <a:xfrm rot="0">
            <a:off x="758478" y="2018645"/>
            <a:ext cx="9800000" cy="15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4724"/>
              </a:lnSpc>
            </a:pPr>
            <a:r>
              <a:rPr sz="4000" b="1">
                <a:solidFill>
                  <a:srgbClr val="000000"/>
                </a:solidFill>
                <a:latin typeface="Lato Heavy"/>
              </a:rPr>
              <a:t>Arquitetura do Experimento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758478" y="3736534"/>
            <a:ext cx="4900000" cy="46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Fluxo — </a:t>
            </a:r>
            <a:r>
              <a:rPr b="0" sz="1700">
                <a:solidFill>
                  <a:srgbClr val="000000"/>
                </a:solidFill>
                <a:latin typeface="Arial"/>
              </a:rPr>
              <a:t>O Cliente envia tráfego TCP ao WAF, que inspeciona cada payload; o Observador monitora o WAF e o próprio host (via eBPF, Sysstat ou Prometheus) e expõe métricas por UDP.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Medição — </a:t>
            </a:r>
            <a:r>
              <a:rPr b="0" sz="1700">
                <a:solidFill>
                  <a:srgbClr val="000000"/>
                </a:solidFill>
                <a:latin typeface="Arial"/>
              </a:rPr>
              <a:t>O Coletor envia uma requisição por segundo e mede o RTT da resposta — essa é a métrica de tempo de resposta usada nos resultados.</a:t>
            </a:r>
          </a:p>
        </p:txBody>
      </p:sp>
      <p:pic>
        <p:nvPicPr>
          <p:cNvPr id="120" name="Picture 119" descr="C4model.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817" y="2950000"/>
            <a:ext cx="7882366" cy="53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3192" y="356173"/>
            <a:ext cx="16735628" cy="1119763"/>
            <a:chOff x="0" y="0"/>
            <a:chExt cx="22314171" cy="149301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8598"/>
              <a:ext cx="22314171" cy="1354419"/>
              <a:chOff x="0" y="0"/>
              <a:chExt cx="51788682" cy="314345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8989" cy="8763"/>
              </a:xfrm>
              <a:custGeom>
                <a:avLst/>
                <a:gdLst/>
                <a:ahLst/>
                <a:cxnLst/>
                <a:rect r="r" b="b" t="t" l="l"/>
                <a:pathLst>
                  <a:path h="8763" w="38989">
                    <a:moveTo>
                      <a:pt x="0" y="0"/>
                    </a:moveTo>
                    <a:lnTo>
                      <a:pt x="38989" y="0"/>
                    </a:lnTo>
                    <a:lnTo>
                      <a:pt x="38989" y="8763"/>
                    </a:lnTo>
                    <a:lnTo>
                      <a:pt x="0" y="8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D050"/>
              </a:solidFill>
              <a:ln w="25550" cap="sq">
                <a:solidFill>
                  <a:srgbClr val="92D050"/>
                </a:solidFill>
                <a:prstDash val="solid"/>
                <a:miter/>
              </a:ln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9141893" y="130450"/>
              <a:ext cx="4055852" cy="756837"/>
              <a:chOff x="0" y="0"/>
              <a:chExt cx="2739324" cy="51116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739324" cy="511168"/>
              </a:xfrm>
              <a:custGeom>
                <a:avLst/>
                <a:gdLst/>
                <a:ahLst/>
                <a:cxnLst/>
                <a:rect r="r" b="b" t="t" l="l"/>
                <a:pathLst>
                  <a:path h="511168" w="2739324">
                    <a:moveTo>
                      <a:pt x="0" y="0"/>
                    </a:moveTo>
                    <a:lnTo>
                      <a:pt x="2739324" y="0"/>
                    </a:lnTo>
                    <a:lnTo>
                      <a:pt x="2739324" y="511168"/>
                    </a:lnTo>
                    <a:lnTo>
                      <a:pt x="0" y="511168"/>
                    </a:lnTo>
                    <a:close/>
                  </a:path>
                </a:pathLst>
              </a:custGeom>
              <a:solidFill>
                <a:srgbClr val="0AA041">
                  <a:alpha val="80000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57150"/>
                <a:ext cx="2739324" cy="568318"/>
              </a:xfrm>
              <a:prstGeom prst="rect">
                <a:avLst/>
              </a:prstGeom>
            </p:spPr>
            <p:txBody>
              <a:bodyPr anchor="ctr" rtlCol="false" tIns="8023" lIns="8023" bIns="8023" rIns="8023"/>
              <a:lstStyle/>
              <a:p>
                <a:pPr algn="r">
                  <a:lnSpc>
                    <a:spcPts val="4472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9141893" y="103486"/>
              <a:ext cx="3614136" cy="7838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299"/>
                </a:lnSpc>
              </a:pPr>
              <a:r>
                <a:rPr lang="en-US" b="true" sz="4299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957618" y="76200"/>
              <a:ext cx="3783172" cy="797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300"/>
                </a:lnSpc>
              </a:pPr>
              <a:r>
                <a:rPr lang="en-US" b="true" sz="430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2079630" y="137279"/>
              <a:ext cx="1250657" cy="703295"/>
              <a:chOff x="0" y="0"/>
              <a:chExt cx="796585" cy="4479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96585" cy="447952"/>
              </a:xfrm>
              <a:custGeom>
                <a:avLst/>
                <a:gdLst/>
                <a:ahLst/>
                <a:cxnLst/>
                <a:rect r="r" b="b" t="t" l="l"/>
                <a:pathLst>
                  <a:path h="447952" w="796585">
                    <a:moveTo>
                      <a:pt x="0" y="0"/>
                    </a:moveTo>
                    <a:lnTo>
                      <a:pt x="796585" y="0"/>
                    </a:lnTo>
                    <a:lnTo>
                      <a:pt x="796585" y="447952"/>
                    </a:lnTo>
                    <a:lnTo>
                      <a:pt x="0" y="447952"/>
                    </a:lnTo>
                    <a:close/>
                  </a:path>
                </a:pathLst>
              </a:custGeom>
              <a:solidFill>
                <a:srgbClr val="0198C5">
                  <a:alpha val="80000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796585" cy="505102"/>
              </a:xfrm>
              <a:prstGeom prst="rect">
                <a:avLst/>
              </a:prstGeom>
            </p:spPr>
            <p:txBody>
              <a:bodyPr anchor="ctr" rtlCol="false" tIns="9429" lIns="9429" bIns="9429" rIns="9429"/>
              <a:lstStyle/>
              <a:p>
                <a:pPr algn="ctr">
                  <a:lnSpc>
                    <a:spcPts val="4473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819656" y="93442"/>
              <a:ext cx="2315145" cy="867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799404" y="76200"/>
              <a:ext cx="2315145" cy="867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89960" y="231339"/>
              <a:ext cx="5680898" cy="609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8"/>
                </a:lnSpc>
              </a:pPr>
              <a:r>
                <a:rPr lang="en-US" sz="3238" b="true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Seminário de Ciência e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884162" y="8479814"/>
            <a:ext cx="3956548" cy="1092996"/>
          </a:xfrm>
          <a:custGeom>
            <a:avLst/>
            <a:gdLst/>
            <a:ahLst/>
            <a:cxnLst/>
            <a:rect r="r" b="b" t="t" l="l"/>
            <a:pathLst>
              <a:path h="1092996" w="3956548">
                <a:moveTo>
                  <a:pt x="0" y="0"/>
                </a:moveTo>
                <a:lnTo>
                  <a:pt x="3956548" y="0"/>
                </a:lnTo>
                <a:lnTo>
                  <a:pt x="3956548" y="1092996"/>
                </a:lnTo>
                <a:lnTo>
                  <a:pt x="0" y="1092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0" y="9936452"/>
            <a:ext cx="9525000" cy="11906250"/>
            <a:chOff x="0" y="0"/>
            <a:chExt cx="12700000" cy="15875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9525000" y="0"/>
              <a:ext cx="3175000" cy="3175000"/>
              <a:chOff x="0" y="0"/>
              <a:chExt cx="986193" cy="986193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69" id="69"/>
          <p:cNvGrpSpPr/>
          <p:nvPr/>
        </p:nvGrpSpPr>
        <p:grpSpPr>
          <a:xfrm rot="-5400000">
            <a:off x="8318204" y="8745827"/>
            <a:ext cx="9525000" cy="11906250"/>
            <a:chOff x="0" y="0"/>
            <a:chExt cx="12700000" cy="15875000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117" id="11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8" id="118"/>
          <p:cNvSpPr txBox="true"/>
          <p:nvPr/>
        </p:nvSpPr>
        <p:spPr>
          <a:xfrm rot="0">
            <a:off x="758478" y="2018645"/>
            <a:ext cx="9800000" cy="15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4724"/>
              </a:lnSpc>
            </a:pPr>
            <a:r>
              <a:rPr sz="4000" b="1">
                <a:solidFill>
                  <a:srgbClr val="000000"/>
                </a:solidFill>
                <a:latin typeface="Lato Heavy"/>
              </a:rPr>
              <a:t>Protocolo de Testes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758478" y="3736534"/>
            <a:ext cx="9800000" cy="46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00000"/>
                </a:solidFill>
                <a:latin typeface="Arial"/>
              </a:rPr>
              <a:t>Execuções — </a:t>
            </a:r>
            <a:r>
              <a:rPr b="0" sz="2000">
                <a:solidFill>
                  <a:srgbClr val="000000"/>
                </a:solidFill>
                <a:latin typeface="Arial"/>
              </a:rPr>
              <a:t>360 execuções ao todo: 4 volumes de tráfego × 3 ferramentas × 30 repetições cada, todas em ambiente isolado e com hardware fixo.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00000"/>
                </a:solidFill>
                <a:latin typeface="Arial"/>
              </a:rPr>
              <a:t>Análise — </a:t>
            </a:r>
            <a:r>
              <a:rPr b="0" sz="2000">
                <a:solidFill>
                  <a:srgbClr val="000000"/>
                </a:solidFill>
                <a:latin typeface="Arial"/>
              </a:rPr>
              <a:t>Os resultados são reportados como média ± intervalo de confiança de 95%, calculado sobre as 30 repetições de cada configuração.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3192" y="356173"/>
            <a:ext cx="16735628" cy="1119763"/>
            <a:chOff x="0" y="0"/>
            <a:chExt cx="22314171" cy="149301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8598"/>
              <a:ext cx="22314171" cy="1354419"/>
              <a:chOff x="0" y="0"/>
              <a:chExt cx="51788682" cy="314345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8989" cy="8763"/>
              </a:xfrm>
              <a:custGeom>
                <a:avLst/>
                <a:gdLst/>
                <a:ahLst/>
                <a:cxnLst/>
                <a:rect r="r" b="b" t="t" l="l"/>
                <a:pathLst>
                  <a:path h="8763" w="38989">
                    <a:moveTo>
                      <a:pt x="0" y="0"/>
                    </a:moveTo>
                    <a:lnTo>
                      <a:pt x="38989" y="0"/>
                    </a:lnTo>
                    <a:lnTo>
                      <a:pt x="38989" y="8763"/>
                    </a:lnTo>
                    <a:lnTo>
                      <a:pt x="0" y="8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D050"/>
              </a:solidFill>
              <a:ln w="25550" cap="sq">
                <a:solidFill>
                  <a:srgbClr val="92D050"/>
                </a:solidFill>
                <a:prstDash val="solid"/>
                <a:miter/>
              </a:ln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9141893" y="130450"/>
              <a:ext cx="4055852" cy="756837"/>
              <a:chOff x="0" y="0"/>
              <a:chExt cx="2739324" cy="51116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739324" cy="511168"/>
              </a:xfrm>
              <a:custGeom>
                <a:avLst/>
                <a:gdLst/>
                <a:ahLst/>
                <a:cxnLst/>
                <a:rect r="r" b="b" t="t" l="l"/>
                <a:pathLst>
                  <a:path h="511168" w="2739324">
                    <a:moveTo>
                      <a:pt x="0" y="0"/>
                    </a:moveTo>
                    <a:lnTo>
                      <a:pt x="2739324" y="0"/>
                    </a:lnTo>
                    <a:lnTo>
                      <a:pt x="2739324" y="511168"/>
                    </a:lnTo>
                    <a:lnTo>
                      <a:pt x="0" y="511168"/>
                    </a:lnTo>
                    <a:close/>
                  </a:path>
                </a:pathLst>
              </a:custGeom>
              <a:solidFill>
                <a:srgbClr val="0AA041">
                  <a:alpha val="80000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57150"/>
                <a:ext cx="2739324" cy="568318"/>
              </a:xfrm>
              <a:prstGeom prst="rect">
                <a:avLst/>
              </a:prstGeom>
            </p:spPr>
            <p:txBody>
              <a:bodyPr anchor="ctr" rtlCol="false" tIns="8023" lIns="8023" bIns="8023" rIns="8023"/>
              <a:lstStyle/>
              <a:p>
                <a:pPr algn="r">
                  <a:lnSpc>
                    <a:spcPts val="4472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9141893" y="103486"/>
              <a:ext cx="3614136" cy="7838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299"/>
                </a:lnSpc>
              </a:pPr>
              <a:r>
                <a:rPr lang="en-US" b="true" sz="4299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957618" y="76200"/>
              <a:ext cx="3783172" cy="797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300"/>
                </a:lnSpc>
              </a:pPr>
              <a:r>
                <a:rPr lang="en-US" b="true" sz="430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2079630" y="137279"/>
              <a:ext cx="1250657" cy="703295"/>
              <a:chOff x="0" y="0"/>
              <a:chExt cx="796585" cy="4479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96585" cy="447952"/>
              </a:xfrm>
              <a:custGeom>
                <a:avLst/>
                <a:gdLst/>
                <a:ahLst/>
                <a:cxnLst/>
                <a:rect r="r" b="b" t="t" l="l"/>
                <a:pathLst>
                  <a:path h="447952" w="796585">
                    <a:moveTo>
                      <a:pt x="0" y="0"/>
                    </a:moveTo>
                    <a:lnTo>
                      <a:pt x="796585" y="0"/>
                    </a:lnTo>
                    <a:lnTo>
                      <a:pt x="796585" y="447952"/>
                    </a:lnTo>
                    <a:lnTo>
                      <a:pt x="0" y="447952"/>
                    </a:lnTo>
                    <a:close/>
                  </a:path>
                </a:pathLst>
              </a:custGeom>
              <a:solidFill>
                <a:srgbClr val="0198C5">
                  <a:alpha val="80000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796585" cy="505102"/>
              </a:xfrm>
              <a:prstGeom prst="rect">
                <a:avLst/>
              </a:prstGeom>
            </p:spPr>
            <p:txBody>
              <a:bodyPr anchor="ctr" rtlCol="false" tIns="9429" lIns="9429" bIns="9429" rIns="9429"/>
              <a:lstStyle/>
              <a:p>
                <a:pPr algn="ctr">
                  <a:lnSpc>
                    <a:spcPts val="4473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819656" y="93442"/>
              <a:ext cx="2315145" cy="867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799404" y="76200"/>
              <a:ext cx="2315145" cy="867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89960" y="231339"/>
              <a:ext cx="5680898" cy="609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8"/>
                </a:lnSpc>
              </a:pPr>
              <a:r>
                <a:rPr lang="en-US" sz="3238" b="true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Seminário de Ciência e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884162" y="8479814"/>
            <a:ext cx="3956548" cy="1092996"/>
          </a:xfrm>
          <a:custGeom>
            <a:avLst/>
            <a:gdLst/>
            <a:ahLst/>
            <a:cxnLst/>
            <a:rect r="r" b="b" t="t" l="l"/>
            <a:pathLst>
              <a:path h="1092996" w="3956548">
                <a:moveTo>
                  <a:pt x="0" y="0"/>
                </a:moveTo>
                <a:lnTo>
                  <a:pt x="3956548" y="0"/>
                </a:lnTo>
                <a:lnTo>
                  <a:pt x="3956548" y="1092996"/>
                </a:lnTo>
                <a:lnTo>
                  <a:pt x="0" y="1092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0" y="9936452"/>
            <a:ext cx="9525000" cy="11906250"/>
            <a:chOff x="0" y="0"/>
            <a:chExt cx="12700000" cy="15875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9525000" y="0"/>
              <a:ext cx="3175000" cy="3175000"/>
              <a:chOff x="0" y="0"/>
              <a:chExt cx="986193" cy="986193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69" id="69"/>
          <p:cNvGrpSpPr/>
          <p:nvPr/>
        </p:nvGrpSpPr>
        <p:grpSpPr>
          <a:xfrm rot="-5400000">
            <a:off x="8318204" y="8745827"/>
            <a:ext cx="9525000" cy="11906250"/>
            <a:chOff x="0" y="0"/>
            <a:chExt cx="12700000" cy="15875000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117" id="11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8" id="118"/>
          <p:cNvSpPr txBox="true"/>
          <p:nvPr/>
        </p:nvSpPr>
        <p:spPr>
          <a:xfrm rot="0">
            <a:off x="758478" y="2018645"/>
            <a:ext cx="9800000" cy="15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4724"/>
              </a:lnSpc>
            </a:pPr>
            <a:r>
              <a:rPr sz="4000" b="1">
                <a:solidFill>
                  <a:srgbClr val="000000"/>
                </a:solidFill>
                <a:latin typeface="Lato Heavy"/>
              </a:rPr>
              <a:t>Tempo de Resposta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758478" y="3736534"/>
            <a:ext cx="4900000" cy="46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Resultado — </a:t>
            </a:r>
            <a:r>
              <a:rPr b="0" sz="1700">
                <a:solidFill>
                  <a:srgbClr val="000000"/>
                </a:solidFill>
                <a:latin typeface="Arial"/>
              </a:rPr>
              <a:t>O eBPF apresentou o menor tempo de resposta médio do observador em todos os quatro volumes testados.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Magnitude — </a:t>
            </a:r>
            <a:r>
              <a:rPr b="0" sz="1700">
                <a:solidFill>
                  <a:srgbClr val="000000"/>
                </a:solidFill>
                <a:latin typeface="Arial"/>
              </a:rPr>
              <a:t>De 8,1% a 14,7% mais rápido que o Sysstat, e de 10,9% a 14,0% mais rápido que o Prometheus — diferença estatisticamente significativa (os intervalos de confiança não se sobrepõem).</a:t>
            </a:r>
          </a:p>
        </p:txBody>
      </p:sp>
      <p:pic>
        <p:nvPicPr>
          <p:cNvPr id="120" name="Picture 119" descr="tempo_resposta_por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2778" y="2950000"/>
            <a:ext cx="8244444" cy="53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3192" y="356173"/>
            <a:ext cx="16735628" cy="1119763"/>
            <a:chOff x="0" y="0"/>
            <a:chExt cx="22314171" cy="149301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8598"/>
              <a:ext cx="22314171" cy="1354419"/>
              <a:chOff x="0" y="0"/>
              <a:chExt cx="51788682" cy="314345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8989" cy="8763"/>
              </a:xfrm>
              <a:custGeom>
                <a:avLst/>
                <a:gdLst/>
                <a:ahLst/>
                <a:cxnLst/>
                <a:rect r="r" b="b" t="t" l="l"/>
                <a:pathLst>
                  <a:path h="8763" w="38989">
                    <a:moveTo>
                      <a:pt x="0" y="0"/>
                    </a:moveTo>
                    <a:lnTo>
                      <a:pt x="38989" y="0"/>
                    </a:lnTo>
                    <a:lnTo>
                      <a:pt x="38989" y="8763"/>
                    </a:lnTo>
                    <a:lnTo>
                      <a:pt x="0" y="8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D050"/>
              </a:solidFill>
              <a:ln w="25550" cap="sq">
                <a:solidFill>
                  <a:srgbClr val="92D050"/>
                </a:solidFill>
                <a:prstDash val="solid"/>
                <a:miter/>
              </a:ln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9141893" y="130450"/>
              <a:ext cx="4055852" cy="756837"/>
              <a:chOff x="0" y="0"/>
              <a:chExt cx="2739324" cy="51116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739324" cy="511168"/>
              </a:xfrm>
              <a:custGeom>
                <a:avLst/>
                <a:gdLst/>
                <a:ahLst/>
                <a:cxnLst/>
                <a:rect r="r" b="b" t="t" l="l"/>
                <a:pathLst>
                  <a:path h="511168" w="2739324">
                    <a:moveTo>
                      <a:pt x="0" y="0"/>
                    </a:moveTo>
                    <a:lnTo>
                      <a:pt x="2739324" y="0"/>
                    </a:lnTo>
                    <a:lnTo>
                      <a:pt x="2739324" y="511168"/>
                    </a:lnTo>
                    <a:lnTo>
                      <a:pt x="0" y="511168"/>
                    </a:lnTo>
                    <a:close/>
                  </a:path>
                </a:pathLst>
              </a:custGeom>
              <a:solidFill>
                <a:srgbClr val="0AA041">
                  <a:alpha val="80000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57150"/>
                <a:ext cx="2739324" cy="568318"/>
              </a:xfrm>
              <a:prstGeom prst="rect">
                <a:avLst/>
              </a:prstGeom>
            </p:spPr>
            <p:txBody>
              <a:bodyPr anchor="ctr" rtlCol="false" tIns="8023" lIns="8023" bIns="8023" rIns="8023"/>
              <a:lstStyle/>
              <a:p>
                <a:pPr algn="r">
                  <a:lnSpc>
                    <a:spcPts val="4472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9141893" y="103486"/>
              <a:ext cx="3614136" cy="7838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299"/>
                </a:lnSpc>
              </a:pPr>
              <a:r>
                <a:rPr lang="en-US" b="true" sz="4299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957618" y="76200"/>
              <a:ext cx="3783172" cy="797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300"/>
                </a:lnSpc>
              </a:pPr>
              <a:r>
                <a:rPr lang="en-US" b="true" sz="430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2079630" y="137279"/>
              <a:ext cx="1250657" cy="703295"/>
              <a:chOff x="0" y="0"/>
              <a:chExt cx="796585" cy="4479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96585" cy="447952"/>
              </a:xfrm>
              <a:custGeom>
                <a:avLst/>
                <a:gdLst/>
                <a:ahLst/>
                <a:cxnLst/>
                <a:rect r="r" b="b" t="t" l="l"/>
                <a:pathLst>
                  <a:path h="447952" w="796585">
                    <a:moveTo>
                      <a:pt x="0" y="0"/>
                    </a:moveTo>
                    <a:lnTo>
                      <a:pt x="796585" y="0"/>
                    </a:lnTo>
                    <a:lnTo>
                      <a:pt x="796585" y="447952"/>
                    </a:lnTo>
                    <a:lnTo>
                      <a:pt x="0" y="447952"/>
                    </a:lnTo>
                    <a:close/>
                  </a:path>
                </a:pathLst>
              </a:custGeom>
              <a:solidFill>
                <a:srgbClr val="0198C5">
                  <a:alpha val="80000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796585" cy="505102"/>
              </a:xfrm>
              <a:prstGeom prst="rect">
                <a:avLst/>
              </a:prstGeom>
            </p:spPr>
            <p:txBody>
              <a:bodyPr anchor="ctr" rtlCol="false" tIns="9429" lIns="9429" bIns="9429" rIns="9429"/>
              <a:lstStyle/>
              <a:p>
                <a:pPr algn="ctr">
                  <a:lnSpc>
                    <a:spcPts val="4473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819656" y="93442"/>
              <a:ext cx="2315145" cy="867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799404" y="76200"/>
              <a:ext cx="2315145" cy="867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89960" y="231339"/>
              <a:ext cx="5680898" cy="609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8"/>
                </a:lnSpc>
              </a:pPr>
              <a:r>
                <a:rPr lang="en-US" sz="3238" b="true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Seminário de Ciência e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884162" y="8479814"/>
            <a:ext cx="3956548" cy="1092996"/>
          </a:xfrm>
          <a:custGeom>
            <a:avLst/>
            <a:gdLst/>
            <a:ahLst/>
            <a:cxnLst/>
            <a:rect r="r" b="b" t="t" l="l"/>
            <a:pathLst>
              <a:path h="1092996" w="3956548">
                <a:moveTo>
                  <a:pt x="0" y="0"/>
                </a:moveTo>
                <a:lnTo>
                  <a:pt x="3956548" y="0"/>
                </a:lnTo>
                <a:lnTo>
                  <a:pt x="3956548" y="1092996"/>
                </a:lnTo>
                <a:lnTo>
                  <a:pt x="0" y="1092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0" y="9936452"/>
            <a:ext cx="9525000" cy="11906250"/>
            <a:chOff x="0" y="0"/>
            <a:chExt cx="12700000" cy="15875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9525000" y="0"/>
              <a:ext cx="3175000" cy="3175000"/>
              <a:chOff x="0" y="0"/>
              <a:chExt cx="986193" cy="986193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69" id="69"/>
          <p:cNvGrpSpPr/>
          <p:nvPr/>
        </p:nvGrpSpPr>
        <p:grpSpPr>
          <a:xfrm rot="-5400000">
            <a:off x="8318204" y="8745827"/>
            <a:ext cx="9525000" cy="11906250"/>
            <a:chOff x="0" y="0"/>
            <a:chExt cx="12700000" cy="15875000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117" id="11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8" id="118"/>
          <p:cNvSpPr txBox="true"/>
          <p:nvPr/>
        </p:nvSpPr>
        <p:spPr>
          <a:xfrm rot="0">
            <a:off x="758478" y="2018645"/>
            <a:ext cx="9800000" cy="15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4724"/>
              </a:lnSpc>
            </a:pPr>
            <a:r>
              <a:rPr sz="4000" b="1">
                <a:solidFill>
                  <a:srgbClr val="000000"/>
                </a:solidFill>
                <a:latin typeface="Lato Heavy"/>
              </a:rPr>
              <a:t>Distribuição do Tempo de Resposta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758478" y="3736534"/>
            <a:ext cx="9800000" cy="9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Consistência — </a:t>
            </a:r>
            <a:r>
              <a:rPr b="0" sz="1700">
                <a:solidFill>
                  <a:srgbClr val="000000"/>
                </a:solidFill>
                <a:latin typeface="Arial"/>
              </a:rPr>
              <a:t>A vantagem do eBPF se mantém estável entre as 30 execuções de cada volume: menor dispersão e menor mediana em relação ao Sysstat e ao Prometheus, sem sobreposição relevante entre as distribuições.</a:t>
            </a:r>
          </a:p>
        </p:txBody>
      </p:sp>
      <p:pic>
        <p:nvPicPr>
          <p:cNvPr id="120" name="Picture 119" descr="boxplot_tempo_respos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1844" y="4900000"/>
            <a:ext cx="11083267" cy="355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3192" y="356173"/>
            <a:ext cx="16735628" cy="1119763"/>
            <a:chOff x="0" y="0"/>
            <a:chExt cx="22314171" cy="149301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8598"/>
              <a:ext cx="22314171" cy="1354419"/>
              <a:chOff x="0" y="0"/>
              <a:chExt cx="51788682" cy="314345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8989" cy="8763"/>
              </a:xfrm>
              <a:custGeom>
                <a:avLst/>
                <a:gdLst/>
                <a:ahLst/>
                <a:cxnLst/>
                <a:rect r="r" b="b" t="t" l="l"/>
                <a:pathLst>
                  <a:path h="8763" w="38989">
                    <a:moveTo>
                      <a:pt x="0" y="0"/>
                    </a:moveTo>
                    <a:lnTo>
                      <a:pt x="38989" y="0"/>
                    </a:lnTo>
                    <a:lnTo>
                      <a:pt x="38989" y="8763"/>
                    </a:lnTo>
                    <a:lnTo>
                      <a:pt x="0" y="8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D050"/>
              </a:solidFill>
              <a:ln w="25550" cap="sq">
                <a:solidFill>
                  <a:srgbClr val="92D050"/>
                </a:solidFill>
                <a:prstDash val="solid"/>
                <a:miter/>
              </a:ln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9141893" y="130450"/>
              <a:ext cx="4055852" cy="756837"/>
              <a:chOff x="0" y="0"/>
              <a:chExt cx="2739324" cy="51116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739324" cy="511168"/>
              </a:xfrm>
              <a:custGeom>
                <a:avLst/>
                <a:gdLst/>
                <a:ahLst/>
                <a:cxnLst/>
                <a:rect r="r" b="b" t="t" l="l"/>
                <a:pathLst>
                  <a:path h="511168" w="2739324">
                    <a:moveTo>
                      <a:pt x="0" y="0"/>
                    </a:moveTo>
                    <a:lnTo>
                      <a:pt x="2739324" y="0"/>
                    </a:lnTo>
                    <a:lnTo>
                      <a:pt x="2739324" y="511168"/>
                    </a:lnTo>
                    <a:lnTo>
                      <a:pt x="0" y="511168"/>
                    </a:lnTo>
                    <a:close/>
                  </a:path>
                </a:pathLst>
              </a:custGeom>
              <a:solidFill>
                <a:srgbClr val="0AA041">
                  <a:alpha val="80000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57150"/>
                <a:ext cx="2739324" cy="568318"/>
              </a:xfrm>
              <a:prstGeom prst="rect">
                <a:avLst/>
              </a:prstGeom>
            </p:spPr>
            <p:txBody>
              <a:bodyPr anchor="ctr" rtlCol="false" tIns="8023" lIns="8023" bIns="8023" rIns="8023"/>
              <a:lstStyle/>
              <a:p>
                <a:pPr algn="r">
                  <a:lnSpc>
                    <a:spcPts val="4472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9141893" y="103486"/>
              <a:ext cx="3614136" cy="7838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299"/>
                </a:lnSpc>
              </a:pPr>
              <a:r>
                <a:rPr lang="en-US" b="true" sz="4299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957618" y="76200"/>
              <a:ext cx="3783172" cy="797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300"/>
                </a:lnSpc>
              </a:pPr>
              <a:r>
                <a:rPr lang="en-US" b="true" sz="430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2079630" y="137279"/>
              <a:ext cx="1250657" cy="703295"/>
              <a:chOff x="0" y="0"/>
              <a:chExt cx="796585" cy="4479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96585" cy="447952"/>
              </a:xfrm>
              <a:custGeom>
                <a:avLst/>
                <a:gdLst/>
                <a:ahLst/>
                <a:cxnLst/>
                <a:rect r="r" b="b" t="t" l="l"/>
                <a:pathLst>
                  <a:path h="447952" w="796585">
                    <a:moveTo>
                      <a:pt x="0" y="0"/>
                    </a:moveTo>
                    <a:lnTo>
                      <a:pt x="796585" y="0"/>
                    </a:lnTo>
                    <a:lnTo>
                      <a:pt x="796585" y="447952"/>
                    </a:lnTo>
                    <a:lnTo>
                      <a:pt x="0" y="447952"/>
                    </a:lnTo>
                    <a:close/>
                  </a:path>
                </a:pathLst>
              </a:custGeom>
              <a:solidFill>
                <a:srgbClr val="0198C5">
                  <a:alpha val="80000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796585" cy="505102"/>
              </a:xfrm>
              <a:prstGeom prst="rect">
                <a:avLst/>
              </a:prstGeom>
            </p:spPr>
            <p:txBody>
              <a:bodyPr anchor="ctr" rtlCol="false" tIns="9429" lIns="9429" bIns="9429" rIns="9429"/>
              <a:lstStyle/>
              <a:p>
                <a:pPr algn="ctr">
                  <a:lnSpc>
                    <a:spcPts val="4473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819656" y="93442"/>
              <a:ext cx="2315145" cy="867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799404" y="76200"/>
              <a:ext cx="2315145" cy="867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89960" y="231339"/>
              <a:ext cx="5680898" cy="609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8"/>
                </a:lnSpc>
              </a:pPr>
              <a:r>
                <a:rPr lang="en-US" sz="3238" b="true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Seminário de Ciência e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884162" y="8479814"/>
            <a:ext cx="3956548" cy="1092996"/>
          </a:xfrm>
          <a:custGeom>
            <a:avLst/>
            <a:gdLst/>
            <a:ahLst/>
            <a:cxnLst/>
            <a:rect r="r" b="b" t="t" l="l"/>
            <a:pathLst>
              <a:path h="1092996" w="3956548">
                <a:moveTo>
                  <a:pt x="0" y="0"/>
                </a:moveTo>
                <a:lnTo>
                  <a:pt x="3956548" y="0"/>
                </a:lnTo>
                <a:lnTo>
                  <a:pt x="3956548" y="1092996"/>
                </a:lnTo>
                <a:lnTo>
                  <a:pt x="0" y="1092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0" y="9936452"/>
            <a:ext cx="9525000" cy="11906250"/>
            <a:chOff x="0" y="0"/>
            <a:chExt cx="12700000" cy="15875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9525000" y="0"/>
              <a:ext cx="3175000" cy="3175000"/>
              <a:chOff x="0" y="0"/>
              <a:chExt cx="986193" cy="986193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69" id="69"/>
          <p:cNvGrpSpPr/>
          <p:nvPr/>
        </p:nvGrpSpPr>
        <p:grpSpPr>
          <a:xfrm rot="-5400000">
            <a:off x="8318204" y="8745827"/>
            <a:ext cx="9525000" cy="11906250"/>
            <a:chOff x="0" y="0"/>
            <a:chExt cx="12700000" cy="15875000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117" id="11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8" id="118"/>
          <p:cNvSpPr txBox="true"/>
          <p:nvPr/>
        </p:nvSpPr>
        <p:spPr>
          <a:xfrm rot="0">
            <a:off x="758478" y="2018645"/>
            <a:ext cx="9800000" cy="15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4724"/>
              </a:lnSpc>
            </a:pPr>
            <a:r>
              <a:rPr sz="4000" b="1">
                <a:solidFill>
                  <a:srgbClr val="000000"/>
                </a:solidFill>
                <a:latin typeface="Lato Heavy"/>
              </a:rPr>
              <a:t>CPU do WAF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758478" y="3736534"/>
            <a:ext cx="4900000" cy="46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Saturação — </a:t>
            </a:r>
            <a:r>
              <a:rPr b="0" sz="1700">
                <a:solidFill>
                  <a:srgbClr val="000000"/>
                </a:solidFill>
                <a:latin typeface="Arial"/>
              </a:rPr>
              <a:t>A partir de 500 mil mensagens, o uso de CPU do WAF satura entre 107% e 109%, sem diferença entre os três coletores — a inspeção domina o consumo, não o monitoramento.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Exceção — </a:t>
            </a:r>
            <a:r>
              <a:rPr b="0" sz="1700">
                <a:solidFill>
                  <a:srgbClr val="000000"/>
                </a:solidFill>
                <a:latin typeface="Arial"/>
              </a:rPr>
              <a:t>Em 100 mil mensagens, o eBPF mostrou média um pouco menor (52,4% vs. 57,2% e 57,0%), mas com intervalo de confiança muito largo — resultado não conclusivo.</a:t>
            </a:r>
          </a:p>
        </p:txBody>
      </p:sp>
      <p:pic>
        <p:nvPicPr>
          <p:cNvPr id="120" name="Picture 119" descr="cpu_w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2778" y="2950000"/>
            <a:ext cx="8244444" cy="530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3192" y="356173"/>
            <a:ext cx="16735628" cy="1119763"/>
            <a:chOff x="0" y="0"/>
            <a:chExt cx="22314171" cy="149301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8598"/>
              <a:ext cx="22314171" cy="1354419"/>
              <a:chOff x="0" y="0"/>
              <a:chExt cx="51788682" cy="314345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8989" cy="8763"/>
              </a:xfrm>
              <a:custGeom>
                <a:avLst/>
                <a:gdLst/>
                <a:ahLst/>
                <a:cxnLst/>
                <a:rect r="r" b="b" t="t" l="l"/>
                <a:pathLst>
                  <a:path h="8763" w="38989">
                    <a:moveTo>
                      <a:pt x="0" y="0"/>
                    </a:moveTo>
                    <a:lnTo>
                      <a:pt x="38989" y="0"/>
                    </a:lnTo>
                    <a:lnTo>
                      <a:pt x="38989" y="8763"/>
                    </a:lnTo>
                    <a:lnTo>
                      <a:pt x="0" y="8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D050"/>
              </a:solidFill>
              <a:ln w="25550" cap="sq">
                <a:solidFill>
                  <a:srgbClr val="92D050"/>
                </a:solidFill>
                <a:prstDash val="solid"/>
                <a:miter/>
              </a:ln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9141893" y="130450"/>
              <a:ext cx="4055852" cy="756837"/>
              <a:chOff x="0" y="0"/>
              <a:chExt cx="2739324" cy="51116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739324" cy="511168"/>
              </a:xfrm>
              <a:custGeom>
                <a:avLst/>
                <a:gdLst/>
                <a:ahLst/>
                <a:cxnLst/>
                <a:rect r="r" b="b" t="t" l="l"/>
                <a:pathLst>
                  <a:path h="511168" w="2739324">
                    <a:moveTo>
                      <a:pt x="0" y="0"/>
                    </a:moveTo>
                    <a:lnTo>
                      <a:pt x="2739324" y="0"/>
                    </a:lnTo>
                    <a:lnTo>
                      <a:pt x="2739324" y="511168"/>
                    </a:lnTo>
                    <a:lnTo>
                      <a:pt x="0" y="511168"/>
                    </a:lnTo>
                    <a:close/>
                  </a:path>
                </a:pathLst>
              </a:custGeom>
              <a:solidFill>
                <a:srgbClr val="0AA041">
                  <a:alpha val="80000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57150"/>
                <a:ext cx="2739324" cy="568318"/>
              </a:xfrm>
              <a:prstGeom prst="rect">
                <a:avLst/>
              </a:prstGeom>
            </p:spPr>
            <p:txBody>
              <a:bodyPr anchor="ctr" rtlCol="false" tIns="8023" lIns="8023" bIns="8023" rIns="8023"/>
              <a:lstStyle/>
              <a:p>
                <a:pPr algn="r">
                  <a:lnSpc>
                    <a:spcPts val="4472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9141893" y="103486"/>
              <a:ext cx="3614136" cy="7838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299"/>
                </a:lnSpc>
              </a:pPr>
              <a:r>
                <a:rPr lang="en-US" b="true" sz="4299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957618" y="76200"/>
              <a:ext cx="3783172" cy="797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300"/>
                </a:lnSpc>
              </a:pPr>
              <a:r>
                <a:rPr lang="en-US" b="true" sz="430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2079630" y="137279"/>
              <a:ext cx="1250657" cy="703295"/>
              <a:chOff x="0" y="0"/>
              <a:chExt cx="796585" cy="4479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96585" cy="447952"/>
              </a:xfrm>
              <a:custGeom>
                <a:avLst/>
                <a:gdLst/>
                <a:ahLst/>
                <a:cxnLst/>
                <a:rect r="r" b="b" t="t" l="l"/>
                <a:pathLst>
                  <a:path h="447952" w="796585">
                    <a:moveTo>
                      <a:pt x="0" y="0"/>
                    </a:moveTo>
                    <a:lnTo>
                      <a:pt x="796585" y="0"/>
                    </a:lnTo>
                    <a:lnTo>
                      <a:pt x="796585" y="447952"/>
                    </a:lnTo>
                    <a:lnTo>
                      <a:pt x="0" y="447952"/>
                    </a:lnTo>
                    <a:close/>
                  </a:path>
                </a:pathLst>
              </a:custGeom>
              <a:solidFill>
                <a:srgbClr val="0198C5">
                  <a:alpha val="80000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796585" cy="505102"/>
              </a:xfrm>
              <a:prstGeom prst="rect">
                <a:avLst/>
              </a:prstGeom>
            </p:spPr>
            <p:txBody>
              <a:bodyPr anchor="ctr" rtlCol="false" tIns="9429" lIns="9429" bIns="9429" rIns="9429"/>
              <a:lstStyle/>
              <a:p>
                <a:pPr algn="ctr">
                  <a:lnSpc>
                    <a:spcPts val="4473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819656" y="93442"/>
              <a:ext cx="2315145" cy="867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799404" y="76200"/>
              <a:ext cx="2315145" cy="867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89960" y="231339"/>
              <a:ext cx="5680898" cy="609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8"/>
                </a:lnSpc>
              </a:pPr>
              <a:r>
                <a:rPr lang="en-US" sz="3238" b="true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Seminário de Ciência e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884162" y="8479814"/>
            <a:ext cx="3956548" cy="1092996"/>
          </a:xfrm>
          <a:custGeom>
            <a:avLst/>
            <a:gdLst/>
            <a:ahLst/>
            <a:cxnLst/>
            <a:rect r="r" b="b" t="t" l="l"/>
            <a:pathLst>
              <a:path h="1092996" w="3956548">
                <a:moveTo>
                  <a:pt x="0" y="0"/>
                </a:moveTo>
                <a:lnTo>
                  <a:pt x="3956548" y="0"/>
                </a:lnTo>
                <a:lnTo>
                  <a:pt x="3956548" y="1092996"/>
                </a:lnTo>
                <a:lnTo>
                  <a:pt x="0" y="1092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0" y="9936452"/>
            <a:ext cx="9525000" cy="11906250"/>
            <a:chOff x="0" y="0"/>
            <a:chExt cx="12700000" cy="15875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9525000" y="0"/>
              <a:ext cx="3175000" cy="3175000"/>
              <a:chOff x="0" y="0"/>
              <a:chExt cx="986193" cy="986193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69" id="69"/>
          <p:cNvGrpSpPr/>
          <p:nvPr/>
        </p:nvGrpSpPr>
        <p:grpSpPr>
          <a:xfrm rot="-5400000">
            <a:off x="8318204" y="8745827"/>
            <a:ext cx="9525000" cy="11906250"/>
            <a:chOff x="0" y="0"/>
            <a:chExt cx="12700000" cy="15875000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117" id="11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8" id="118"/>
          <p:cNvSpPr txBox="true"/>
          <p:nvPr/>
        </p:nvSpPr>
        <p:spPr>
          <a:xfrm rot="0">
            <a:off x="758478" y="2018645"/>
            <a:ext cx="9800000" cy="15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4724"/>
              </a:lnSpc>
            </a:pPr>
            <a:r>
              <a:rPr sz="4000" b="1">
                <a:solidFill>
                  <a:srgbClr val="000000"/>
                </a:solidFill>
                <a:latin typeface="Lato Heavy"/>
              </a:rPr>
              <a:t>Memória do Observador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758478" y="3736534"/>
            <a:ext cx="4900000" cy="46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Resultado — </a:t>
            </a:r>
            <a:r>
              <a:rPr b="0" sz="1700">
                <a:solidFill>
                  <a:srgbClr val="000000"/>
                </a:solidFill>
                <a:latin typeface="Arial"/>
              </a:rPr>
              <a:t>O consumo de memória do observador se mantém praticamente constante ao longo dos volumes testados, e varia claramente por ferramenta.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Ranking — </a:t>
            </a:r>
            <a:r>
              <a:rPr b="0" sz="1700">
                <a:solidFill>
                  <a:srgbClr val="000000"/>
                </a:solidFill>
                <a:latin typeface="Arial"/>
              </a:rPr>
              <a:t>Sysstat é o mais leve (~14 MB); o eBPF fica em posição intermediária (~15 MB); o Prometheus consome mais: ~24 MB — 78% a mais que o Sysstat.</a:t>
            </a:r>
          </a:p>
        </p:txBody>
      </p:sp>
      <p:pic>
        <p:nvPicPr>
          <p:cNvPr id="120" name="Picture 119" descr="memoria_observad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2778" y="2950000"/>
            <a:ext cx="8244444" cy="530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3192" y="356173"/>
            <a:ext cx="16735628" cy="1119763"/>
            <a:chOff x="0" y="0"/>
            <a:chExt cx="22314171" cy="149301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8598"/>
              <a:ext cx="22314171" cy="1354419"/>
              <a:chOff x="0" y="0"/>
              <a:chExt cx="51788682" cy="314345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8989" cy="8763"/>
              </a:xfrm>
              <a:custGeom>
                <a:avLst/>
                <a:gdLst/>
                <a:ahLst/>
                <a:cxnLst/>
                <a:rect r="r" b="b" t="t" l="l"/>
                <a:pathLst>
                  <a:path h="8763" w="38989">
                    <a:moveTo>
                      <a:pt x="0" y="0"/>
                    </a:moveTo>
                    <a:lnTo>
                      <a:pt x="38989" y="0"/>
                    </a:lnTo>
                    <a:lnTo>
                      <a:pt x="38989" y="8763"/>
                    </a:lnTo>
                    <a:lnTo>
                      <a:pt x="0" y="8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D050"/>
              </a:solidFill>
              <a:ln w="25550" cap="sq">
                <a:solidFill>
                  <a:srgbClr val="92D050"/>
                </a:solidFill>
                <a:prstDash val="solid"/>
                <a:miter/>
              </a:ln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9141893" y="130450"/>
              <a:ext cx="4055852" cy="756837"/>
              <a:chOff x="0" y="0"/>
              <a:chExt cx="2739324" cy="51116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739324" cy="511168"/>
              </a:xfrm>
              <a:custGeom>
                <a:avLst/>
                <a:gdLst/>
                <a:ahLst/>
                <a:cxnLst/>
                <a:rect r="r" b="b" t="t" l="l"/>
                <a:pathLst>
                  <a:path h="511168" w="2739324">
                    <a:moveTo>
                      <a:pt x="0" y="0"/>
                    </a:moveTo>
                    <a:lnTo>
                      <a:pt x="2739324" y="0"/>
                    </a:lnTo>
                    <a:lnTo>
                      <a:pt x="2739324" y="511168"/>
                    </a:lnTo>
                    <a:lnTo>
                      <a:pt x="0" y="511168"/>
                    </a:lnTo>
                    <a:close/>
                  </a:path>
                </a:pathLst>
              </a:custGeom>
              <a:solidFill>
                <a:srgbClr val="0AA041">
                  <a:alpha val="80000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57150"/>
                <a:ext cx="2739324" cy="568318"/>
              </a:xfrm>
              <a:prstGeom prst="rect">
                <a:avLst/>
              </a:prstGeom>
            </p:spPr>
            <p:txBody>
              <a:bodyPr anchor="ctr" rtlCol="false" tIns="8023" lIns="8023" bIns="8023" rIns="8023"/>
              <a:lstStyle/>
              <a:p>
                <a:pPr algn="r">
                  <a:lnSpc>
                    <a:spcPts val="4472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9141893" y="103486"/>
              <a:ext cx="3614136" cy="7838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299"/>
                </a:lnSpc>
              </a:pPr>
              <a:r>
                <a:rPr lang="en-US" b="true" sz="4299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957618" y="76200"/>
              <a:ext cx="3783172" cy="797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300"/>
                </a:lnSpc>
              </a:pPr>
              <a:r>
                <a:rPr lang="en-US" b="true" sz="430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2079630" y="137279"/>
              <a:ext cx="1250657" cy="703295"/>
              <a:chOff x="0" y="0"/>
              <a:chExt cx="796585" cy="4479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96585" cy="447952"/>
              </a:xfrm>
              <a:custGeom>
                <a:avLst/>
                <a:gdLst/>
                <a:ahLst/>
                <a:cxnLst/>
                <a:rect r="r" b="b" t="t" l="l"/>
                <a:pathLst>
                  <a:path h="447952" w="796585">
                    <a:moveTo>
                      <a:pt x="0" y="0"/>
                    </a:moveTo>
                    <a:lnTo>
                      <a:pt x="796585" y="0"/>
                    </a:lnTo>
                    <a:lnTo>
                      <a:pt x="796585" y="447952"/>
                    </a:lnTo>
                    <a:lnTo>
                      <a:pt x="0" y="447952"/>
                    </a:lnTo>
                    <a:close/>
                  </a:path>
                </a:pathLst>
              </a:custGeom>
              <a:solidFill>
                <a:srgbClr val="0198C5">
                  <a:alpha val="80000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796585" cy="505102"/>
              </a:xfrm>
              <a:prstGeom prst="rect">
                <a:avLst/>
              </a:prstGeom>
            </p:spPr>
            <p:txBody>
              <a:bodyPr anchor="ctr" rtlCol="false" tIns="9429" lIns="9429" bIns="9429" rIns="9429"/>
              <a:lstStyle/>
              <a:p>
                <a:pPr algn="ctr">
                  <a:lnSpc>
                    <a:spcPts val="4473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819656" y="93442"/>
              <a:ext cx="2315145" cy="867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799404" y="76200"/>
              <a:ext cx="2315145" cy="867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89960" y="231339"/>
              <a:ext cx="5680898" cy="609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8"/>
                </a:lnSpc>
              </a:pPr>
              <a:r>
                <a:rPr lang="en-US" sz="3238" b="true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Seminário de Ciência e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884162" y="8479814"/>
            <a:ext cx="3956548" cy="1092996"/>
          </a:xfrm>
          <a:custGeom>
            <a:avLst/>
            <a:gdLst/>
            <a:ahLst/>
            <a:cxnLst/>
            <a:rect r="r" b="b" t="t" l="l"/>
            <a:pathLst>
              <a:path h="1092996" w="3956548">
                <a:moveTo>
                  <a:pt x="0" y="0"/>
                </a:moveTo>
                <a:lnTo>
                  <a:pt x="3956548" y="0"/>
                </a:lnTo>
                <a:lnTo>
                  <a:pt x="3956548" y="1092996"/>
                </a:lnTo>
                <a:lnTo>
                  <a:pt x="0" y="1092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0" y="9936452"/>
            <a:ext cx="9525000" cy="11906250"/>
            <a:chOff x="0" y="0"/>
            <a:chExt cx="12700000" cy="15875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9525000" y="0"/>
              <a:ext cx="3175000" cy="3175000"/>
              <a:chOff x="0" y="0"/>
              <a:chExt cx="986193" cy="986193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69" id="69"/>
          <p:cNvGrpSpPr/>
          <p:nvPr/>
        </p:nvGrpSpPr>
        <p:grpSpPr>
          <a:xfrm rot="-5400000">
            <a:off x="8318204" y="8745827"/>
            <a:ext cx="9525000" cy="11906250"/>
            <a:chOff x="0" y="0"/>
            <a:chExt cx="12700000" cy="15875000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117" id="11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8" id="118"/>
          <p:cNvSpPr txBox="true"/>
          <p:nvPr/>
        </p:nvSpPr>
        <p:spPr>
          <a:xfrm rot="0">
            <a:off x="758478" y="2018645"/>
            <a:ext cx="9800000" cy="15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4724"/>
              </a:lnSpc>
            </a:pPr>
            <a:r>
              <a:rPr sz="4000" b="1">
                <a:solidFill>
                  <a:srgbClr val="000000"/>
                </a:solidFill>
                <a:latin typeface="Lato Heavy"/>
              </a:rPr>
              <a:t>CPU do Coletor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758478" y="3736534"/>
            <a:ext cx="9800000" cy="95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Todos os volumes — </a:t>
            </a:r>
            <a:r>
              <a:rPr b="0" sz="1700">
                <a:solidFill>
                  <a:srgbClr val="000000"/>
                </a:solidFill>
                <a:latin typeface="Arial"/>
              </a:rPr>
              <a:t>Só em N=100k o eBPF é estável (IC pequeno). Nos demais, e mesmo Sysstat/Prometheus em 100k, o IC95% supera a própria média:</a:t>
            </a:r>
          </a:p>
        </p:txBody>
      </p:sp>
      <p:graphicFrame>
        <p:nvGraphicFramePr>
          <p:cNvPr id="120" name="Table 119"/>
          <p:cNvGraphicFramePr>
            <a:graphicFrameLocks noGrp="1"/>
          </p:cNvGraphicFramePr>
          <p:nvPr/>
        </p:nvGraphicFramePr>
        <p:xfrm>
          <a:off x="758478" y="4850000"/>
          <a:ext cx="16770000" cy="2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000"/>
                <a:gridCol w="4190000"/>
                <a:gridCol w="4190000"/>
                <a:gridCol w="4190000"/>
              </a:tblGrid>
              <a:tr h="500000">
                <a:tc>
                  <a:txBody>
                    <a:bodyPr/>
                    <a:lstStyle/>
                    <a:p>
                      <a:pPr algn="l"/>
                      <a:r>
                        <a:rPr b="1" sz="1800">
                          <a:solidFill>
                            <a:srgbClr val="FFFFFF"/>
                          </a:solidFill>
                          <a:latin typeface="Arial"/>
                        </a:rPr>
                        <a:t>Volume (N)</a:t>
                      </a:r>
                    </a:p>
                  </a:txBody>
                  <a:tcPr anchor="ctr">
                    <a:solidFill>
                      <a:srgbClr val="0AA0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  <a:latin typeface="Arial"/>
                        </a:rPr>
                        <a:t>eBPF</a:t>
                      </a:r>
                    </a:p>
                  </a:txBody>
                  <a:tcPr anchor="ctr">
                    <a:solidFill>
                      <a:srgbClr val="0AA0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  <a:latin typeface="Arial"/>
                        </a:rPr>
                        <a:t>Sysstat</a:t>
                      </a:r>
                    </a:p>
                  </a:txBody>
                  <a:tcPr anchor="ctr">
                    <a:solidFill>
                      <a:srgbClr val="0AA0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  <a:latin typeface="Arial"/>
                        </a:rPr>
                        <a:t>Prometheus</a:t>
                      </a:r>
                    </a:p>
                  </a:txBody>
                  <a:tcPr anchor="ctr">
                    <a:solidFill>
                      <a:srgbClr val="0AA041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b="1" sz="1600">
                          <a:solidFill>
                            <a:srgbClr val="000000"/>
                          </a:solidFill>
                          <a:latin typeface="Arial"/>
                        </a:rPr>
                        <a:t>100 mil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000000"/>
                          </a:solidFill>
                          <a:latin typeface="Arial"/>
                        </a:rPr>
                        <a:t>0,05 ± 0,01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000000"/>
                          </a:solidFill>
                          <a:latin typeface="Arial"/>
                        </a:rPr>
                        <a:t>4,66 ± 6,54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000000"/>
                          </a:solidFill>
                          <a:latin typeface="Arial"/>
                        </a:rPr>
                        <a:t>2,37 ± 4,72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b="1" sz="1600">
                          <a:solidFill>
                            <a:srgbClr val="000000"/>
                          </a:solidFill>
                          <a:latin typeface="Arial"/>
                        </a:rPr>
                        <a:t>500 mil</a:t>
                      </a:r>
                    </a:p>
                  </a:txBody>
                  <a:tcPr anchor="ctr">
                    <a:solidFill>
                      <a:srgbClr val="F1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000000"/>
                          </a:solidFill>
                          <a:latin typeface="Arial"/>
                        </a:rPr>
                        <a:t>3,51 ± 3,98</a:t>
                      </a:r>
                    </a:p>
                  </a:txBody>
                  <a:tcPr anchor="ctr">
                    <a:solidFill>
                      <a:srgbClr val="F1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000000"/>
                          </a:solidFill>
                          <a:latin typeface="Arial"/>
                        </a:rPr>
                        <a:t>1,15 ± 2,24</a:t>
                      </a:r>
                    </a:p>
                  </a:txBody>
                  <a:tcPr anchor="ctr">
                    <a:solidFill>
                      <a:srgbClr val="F1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000000"/>
                          </a:solidFill>
                          <a:latin typeface="Arial"/>
                        </a:rPr>
                        <a:t>3,48 ± 5,23</a:t>
                      </a:r>
                    </a:p>
                  </a:txBody>
                  <a:tcPr anchor="ctr">
                    <a:solidFill>
                      <a:srgbClr val="F1F1F0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b="1" sz="1600">
                          <a:solidFill>
                            <a:srgbClr val="000000"/>
                          </a:solidFill>
                          <a:latin typeface="Arial"/>
                        </a:rPr>
                        <a:t>1 milhão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000000"/>
                          </a:solidFill>
                          <a:latin typeface="Arial"/>
                        </a:rPr>
                        <a:t>0,82 ± 1,58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000000"/>
                          </a:solidFill>
                          <a:latin typeface="Arial"/>
                        </a:rPr>
                        <a:t>1,42 ± 1,94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000000"/>
                          </a:solidFill>
                          <a:latin typeface="Arial"/>
                        </a:rPr>
                        <a:t>0,74 ± 1,40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b="1" sz="1600">
                          <a:solidFill>
                            <a:srgbClr val="000000"/>
                          </a:solidFill>
                          <a:latin typeface="Arial"/>
                        </a:rPr>
                        <a:t>2 milhões</a:t>
                      </a:r>
                    </a:p>
                  </a:txBody>
                  <a:tcPr anchor="ctr">
                    <a:solidFill>
                      <a:srgbClr val="F1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000000"/>
                          </a:solidFill>
                          <a:latin typeface="Arial"/>
                        </a:rPr>
                        <a:t>0,47 ± 0,87</a:t>
                      </a:r>
                    </a:p>
                  </a:txBody>
                  <a:tcPr anchor="ctr">
                    <a:solidFill>
                      <a:srgbClr val="F1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000000"/>
                          </a:solidFill>
                          <a:latin typeface="Arial"/>
                        </a:rPr>
                        <a:t>0,46 ± 0,84</a:t>
                      </a:r>
                    </a:p>
                  </a:txBody>
                  <a:tcPr anchor="ctr">
                    <a:solidFill>
                      <a:srgbClr val="F1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000000"/>
                          </a:solidFill>
                          <a:latin typeface="Arial"/>
                        </a:rPr>
                        <a:t>0,80 ± 1,05</a:t>
                      </a:r>
                    </a:p>
                  </a:txBody>
                  <a:tcPr anchor="ctr">
                    <a:solidFill>
                      <a:srgbClr val="F1F1F0"/>
                    </a:solidFill>
                  </a:tcPr>
                </a:tc>
              </a:tr>
            </a:tbl>
          </a:graphicData>
        </a:graphic>
      </p:graphicFrame>
      <p:sp>
        <p:nvSpPr>
          <p:cNvPr id="121" name="TextBox 120"/>
          <p:cNvSpPr txBox="1"/>
          <p:nvPr/>
        </p:nvSpPr>
        <p:spPr>
          <a:xfrm>
            <a:off x="758478" y="7400000"/>
            <a:ext cx="980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1" sz="1400">
                <a:solidFill>
                  <a:srgbClr val="000000"/>
                </a:solidFill>
                <a:latin typeface="Arial"/>
              </a:rPr>
              <a:t>Leitura — </a:t>
            </a:r>
            <a:r>
              <a:rPr b="0" sz="1400">
                <a:solidFill>
                  <a:srgbClr val="000000"/>
                </a:solidFill>
                <a:latin typeface="Arial"/>
              </a:rPr>
              <a:t>Médias em % de CPU, IC95%. A ordem entre ferramentas muda de volume para volume (ex.: Sysstat "vence" em 500 mil) — sinal de ruído, não de uma vantagem real. Por isso o TCC trata essa métrica como evidência qualitativa complementar, não como comparação quantitativa.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3192" y="356173"/>
            <a:ext cx="16735628" cy="1119763"/>
            <a:chOff x="0" y="0"/>
            <a:chExt cx="22314171" cy="149301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8598"/>
              <a:ext cx="22314171" cy="1354419"/>
              <a:chOff x="0" y="0"/>
              <a:chExt cx="51788682" cy="314345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8989" cy="8763"/>
              </a:xfrm>
              <a:custGeom>
                <a:avLst/>
                <a:gdLst/>
                <a:ahLst/>
                <a:cxnLst/>
                <a:rect r="r" b="b" t="t" l="l"/>
                <a:pathLst>
                  <a:path h="8763" w="38989">
                    <a:moveTo>
                      <a:pt x="0" y="0"/>
                    </a:moveTo>
                    <a:lnTo>
                      <a:pt x="38989" y="0"/>
                    </a:lnTo>
                    <a:lnTo>
                      <a:pt x="38989" y="8763"/>
                    </a:lnTo>
                    <a:lnTo>
                      <a:pt x="0" y="8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D050"/>
              </a:solidFill>
              <a:ln w="25550" cap="sq">
                <a:solidFill>
                  <a:srgbClr val="92D050"/>
                </a:solidFill>
                <a:prstDash val="solid"/>
                <a:miter/>
              </a:ln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9141893" y="130450"/>
              <a:ext cx="4055852" cy="756837"/>
              <a:chOff x="0" y="0"/>
              <a:chExt cx="2739324" cy="51116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739324" cy="511168"/>
              </a:xfrm>
              <a:custGeom>
                <a:avLst/>
                <a:gdLst/>
                <a:ahLst/>
                <a:cxnLst/>
                <a:rect r="r" b="b" t="t" l="l"/>
                <a:pathLst>
                  <a:path h="511168" w="2739324">
                    <a:moveTo>
                      <a:pt x="0" y="0"/>
                    </a:moveTo>
                    <a:lnTo>
                      <a:pt x="2739324" y="0"/>
                    </a:lnTo>
                    <a:lnTo>
                      <a:pt x="2739324" y="511168"/>
                    </a:lnTo>
                    <a:lnTo>
                      <a:pt x="0" y="511168"/>
                    </a:lnTo>
                    <a:close/>
                  </a:path>
                </a:pathLst>
              </a:custGeom>
              <a:solidFill>
                <a:srgbClr val="0AA041">
                  <a:alpha val="80000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57150"/>
                <a:ext cx="2739324" cy="568318"/>
              </a:xfrm>
              <a:prstGeom prst="rect">
                <a:avLst/>
              </a:prstGeom>
            </p:spPr>
            <p:txBody>
              <a:bodyPr anchor="ctr" rtlCol="false" tIns="8023" lIns="8023" bIns="8023" rIns="8023"/>
              <a:lstStyle/>
              <a:p>
                <a:pPr algn="r">
                  <a:lnSpc>
                    <a:spcPts val="4472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9141893" y="103486"/>
              <a:ext cx="3614136" cy="7838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299"/>
                </a:lnSpc>
              </a:pPr>
              <a:r>
                <a:rPr lang="en-US" b="true" sz="4299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957618" y="76200"/>
              <a:ext cx="3783172" cy="797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300"/>
                </a:lnSpc>
              </a:pPr>
              <a:r>
                <a:rPr lang="en-US" b="true" sz="430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2079630" y="137279"/>
              <a:ext cx="1250657" cy="703295"/>
              <a:chOff x="0" y="0"/>
              <a:chExt cx="796585" cy="4479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96585" cy="447952"/>
              </a:xfrm>
              <a:custGeom>
                <a:avLst/>
                <a:gdLst/>
                <a:ahLst/>
                <a:cxnLst/>
                <a:rect r="r" b="b" t="t" l="l"/>
                <a:pathLst>
                  <a:path h="447952" w="796585">
                    <a:moveTo>
                      <a:pt x="0" y="0"/>
                    </a:moveTo>
                    <a:lnTo>
                      <a:pt x="796585" y="0"/>
                    </a:lnTo>
                    <a:lnTo>
                      <a:pt x="796585" y="447952"/>
                    </a:lnTo>
                    <a:lnTo>
                      <a:pt x="0" y="447952"/>
                    </a:lnTo>
                    <a:close/>
                  </a:path>
                </a:pathLst>
              </a:custGeom>
              <a:solidFill>
                <a:srgbClr val="0198C5">
                  <a:alpha val="80000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796585" cy="505102"/>
              </a:xfrm>
              <a:prstGeom prst="rect">
                <a:avLst/>
              </a:prstGeom>
            </p:spPr>
            <p:txBody>
              <a:bodyPr anchor="ctr" rtlCol="false" tIns="9429" lIns="9429" bIns="9429" rIns="9429"/>
              <a:lstStyle/>
              <a:p>
                <a:pPr algn="ctr">
                  <a:lnSpc>
                    <a:spcPts val="4473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819656" y="93442"/>
              <a:ext cx="2315145" cy="867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799404" y="76200"/>
              <a:ext cx="2315145" cy="867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89960" y="231339"/>
              <a:ext cx="5680898" cy="609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8"/>
                </a:lnSpc>
              </a:pPr>
              <a:r>
                <a:rPr lang="en-US" sz="3238" b="true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Seminário de Ciência e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884162" y="8479814"/>
            <a:ext cx="3956548" cy="1092996"/>
          </a:xfrm>
          <a:custGeom>
            <a:avLst/>
            <a:gdLst/>
            <a:ahLst/>
            <a:cxnLst/>
            <a:rect r="r" b="b" t="t" l="l"/>
            <a:pathLst>
              <a:path h="1092996" w="3956548">
                <a:moveTo>
                  <a:pt x="0" y="0"/>
                </a:moveTo>
                <a:lnTo>
                  <a:pt x="3956548" y="0"/>
                </a:lnTo>
                <a:lnTo>
                  <a:pt x="3956548" y="1092996"/>
                </a:lnTo>
                <a:lnTo>
                  <a:pt x="0" y="1092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0" y="9936452"/>
            <a:ext cx="9525000" cy="11906250"/>
            <a:chOff x="0" y="0"/>
            <a:chExt cx="12700000" cy="15875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9525000" y="0"/>
              <a:ext cx="3175000" cy="3175000"/>
              <a:chOff x="0" y="0"/>
              <a:chExt cx="986193" cy="986193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69" id="69"/>
          <p:cNvGrpSpPr/>
          <p:nvPr/>
        </p:nvGrpSpPr>
        <p:grpSpPr>
          <a:xfrm rot="-5400000">
            <a:off x="8318204" y="8745827"/>
            <a:ext cx="9525000" cy="11906250"/>
            <a:chOff x="0" y="0"/>
            <a:chExt cx="12700000" cy="15875000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117" id="11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8" id="118"/>
          <p:cNvSpPr txBox="true"/>
          <p:nvPr/>
        </p:nvSpPr>
        <p:spPr>
          <a:xfrm rot="0">
            <a:off x="758478" y="2018645"/>
            <a:ext cx="9800000" cy="15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4724"/>
              </a:lnSpc>
            </a:pPr>
            <a:r>
              <a:rPr sz="4000" b="1">
                <a:solidFill>
                  <a:srgbClr val="000000"/>
                </a:solidFill>
                <a:latin typeface="Lato Heavy"/>
              </a:rPr>
              <a:t>Síntese dos Resultados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758478" y="7600000"/>
            <a:ext cx="9800000" cy="6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b="0" sz="1500" i="1">
                <a:solidFill>
                  <a:srgbClr val="000000"/>
                </a:solidFill>
                <a:latin typeface="Arial"/>
              </a:rPr>
              <a:t>Tabela 4 do TCC — síntese comparativa das três abordagens de monitoramento.</a:t>
            </a:r>
          </a:p>
        </p:txBody>
      </p:sp>
      <p:graphicFrame>
        <p:nvGraphicFramePr>
          <p:cNvPr id="120" name="Table 119"/>
          <p:cNvGraphicFramePr>
            <a:graphicFrameLocks noGrp="1"/>
          </p:cNvGraphicFramePr>
          <p:nvPr/>
        </p:nvGraphicFramePr>
        <p:xfrm>
          <a:off x="758478" y="3900000"/>
          <a:ext cx="16770000" cy="3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000"/>
                <a:gridCol w="4400000"/>
                <a:gridCol w="4000000"/>
                <a:gridCol w="4170000"/>
              </a:tblGrid>
              <a:tr h="700000">
                <a:tc>
                  <a:txBody>
                    <a:bodyPr/>
                    <a:lstStyle/>
                    <a:p>
                      <a:pPr algn="l"/>
                      <a:r>
                        <a:rPr b="1" sz="1800">
                          <a:solidFill>
                            <a:srgbClr val="FFFFFF"/>
                          </a:solidFill>
                          <a:latin typeface="Arial"/>
                        </a:rPr>
                        <a:t>Métrica</a:t>
                      </a:r>
                    </a:p>
                  </a:txBody>
                  <a:tcPr anchor="ctr">
                    <a:solidFill>
                      <a:srgbClr val="0AA0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  <a:latin typeface="Arial"/>
                        </a:rPr>
                        <a:t>eBPF</a:t>
                      </a:r>
                    </a:p>
                  </a:txBody>
                  <a:tcPr anchor="ctr">
                    <a:solidFill>
                      <a:srgbClr val="0AA0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  <a:latin typeface="Arial"/>
                        </a:rPr>
                        <a:t>Sysstat</a:t>
                      </a:r>
                    </a:p>
                  </a:txBody>
                  <a:tcPr anchor="ctr">
                    <a:solidFill>
                      <a:srgbClr val="0AA0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  <a:latin typeface="Arial"/>
                        </a:rPr>
                        <a:t>Prometheus</a:t>
                      </a:r>
                    </a:p>
                  </a:txBody>
                  <a:tcPr anchor="ctr">
                    <a:solidFill>
                      <a:srgbClr val="0AA041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pPr algn="l"/>
                      <a:r>
                        <a:rPr b="1" sz="1600">
                          <a:solidFill>
                            <a:srgbClr val="000000"/>
                          </a:solidFill>
                          <a:latin typeface="Arial"/>
                        </a:rPr>
                        <a:t>Tempo de resposta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000000"/>
                          </a:solidFill>
                          <a:latin typeface="Arial"/>
                        </a:rPr>
                        <a:t>Menor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000000"/>
                          </a:solidFill>
                          <a:latin typeface="Arial"/>
                        </a:rPr>
                        <a:t>Intermediário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000000"/>
                          </a:solidFill>
                          <a:latin typeface="Arial"/>
                        </a:rPr>
                        <a:t>Maior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pPr algn="l"/>
                      <a:r>
                        <a:rPr b="1" sz="1600">
                          <a:solidFill>
                            <a:srgbClr val="000000"/>
                          </a:solidFill>
                          <a:latin typeface="Arial"/>
                        </a:rPr>
                        <a:t>CPU do WAF</a:t>
                      </a:r>
                    </a:p>
                  </a:txBody>
                  <a:tcPr anchor="ctr">
                    <a:solidFill>
                      <a:srgbClr val="F1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000000"/>
                          </a:solidFill>
                          <a:latin typeface="Arial"/>
                        </a:rPr>
                        <a:t>Equivalente</a:t>
                      </a:r>
                    </a:p>
                  </a:txBody>
                  <a:tcPr anchor="ctr">
                    <a:solidFill>
                      <a:srgbClr val="F1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000000"/>
                          </a:solidFill>
                          <a:latin typeface="Arial"/>
                        </a:rPr>
                        <a:t>Equivalente</a:t>
                      </a:r>
                    </a:p>
                  </a:txBody>
                  <a:tcPr anchor="ctr">
                    <a:solidFill>
                      <a:srgbClr val="F1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000000"/>
                          </a:solidFill>
                          <a:latin typeface="Arial"/>
                        </a:rPr>
                        <a:t>Equivalente</a:t>
                      </a:r>
                    </a:p>
                  </a:txBody>
                  <a:tcPr anchor="ctr">
                    <a:solidFill>
                      <a:srgbClr val="F1F1F0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pPr algn="l"/>
                      <a:r>
                        <a:rPr b="1" sz="1600">
                          <a:solidFill>
                            <a:srgbClr val="000000"/>
                          </a:solidFill>
                          <a:latin typeface="Arial"/>
                        </a:rPr>
                        <a:t>Memória do observador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000000"/>
                          </a:solidFill>
                          <a:latin typeface="Arial"/>
                        </a:rPr>
                        <a:t>Intermediária (~15 MB)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000000"/>
                          </a:solidFill>
                          <a:latin typeface="Arial"/>
                        </a:rPr>
                        <a:t>Menor (~14 MB)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000000"/>
                          </a:solidFill>
                          <a:latin typeface="Arial"/>
                        </a:rPr>
                        <a:t>Maior (~24 MB)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pPr algn="l"/>
                      <a:r>
                        <a:rPr b="1" sz="1600">
                          <a:solidFill>
                            <a:srgbClr val="000000"/>
                          </a:solidFill>
                          <a:latin typeface="Arial"/>
                        </a:rPr>
                        <a:t>CPU do observador (N=100k)</a:t>
                      </a:r>
                    </a:p>
                  </a:txBody>
                  <a:tcPr anchor="ctr">
                    <a:solidFill>
                      <a:srgbClr val="F1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000000"/>
                          </a:solidFill>
                          <a:latin typeface="Arial"/>
                        </a:rPr>
                        <a:t>Menor e mais estável</a:t>
                      </a:r>
                    </a:p>
                  </a:txBody>
                  <a:tcPr anchor="ctr">
                    <a:solidFill>
                      <a:srgbClr val="F1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000000"/>
                          </a:solidFill>
                          <a:latin typeface="Arial"/>
                        </a:rPr>
                        <a:t>Maior / ruidoso</a:t>
                      </a:r>
                    </a:p>
                  </a:txBody>
                  <a:tcPr anchor="ctr">
                    <a:solidFill>
                      <a:srgbClr val="F1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000000"/>
                          </a:solidFill>
                          <a:latin typeface="Arial"/>
                        </a:rPr>
                        <a:t>Maior / ruidoso</a:t>
                      </a:r>
                    </a:p>
                  </a:txBody>
                  <a:tcPr anchor="ctr">
                    <a:solidFill>
                      <a:srgbClr val="F1F1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3192" y="356173"/>
            <a:ext cx="16735628" cy="1119763"/>
            <a:chOff x="0" y="0"/>
            <a:chExt cx="22314171" cy="149301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8598"/>
              <a:ext cx="22314171" cy="1354419"/>
              <a:chOff x="0" y="0"/>
              <a:chExt cx="51788682" cy="314345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8989" cy="8763"/>
              </a:xfrm>
              <a:custGeom>
                <a:avLst/>
                <a:gdLst/>
                <a:ahLst/>
                <a:cxnLst/>
                <a:rect r="r" b="b" t="t" l="l"/>
                <a:pathLst>
                  <a:path h="8763" w="38989">
                    <a:moveTo>
                      <a:pt x="0" y="0"/>
                    </a:moveTo>
                    <a:lnTo>
                      <a:pt x="38989" y="0"/>
                    </a:lnTo>
                    <a:lnTo>
                      <a:pt x="38989" y="8763"/>
                    </a:lnTo>
                    <a:lnTo>
                      <a:pt x="0" y="8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D050"/>
              </a:solidFill>
              <a:ln w="25550" cap="sq">
                <a:solidFill>
                  <a:srgbClr val="92D050"/>
                </a:solidFill>
                <a:prstDash val="solid"/>
                <a:miter/>
              </a:ln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9141893" y="130450"/>
              <a:ext cx="4055852" cy="756837"/>
              <a:chOff x="0" y="0"/>
              <a:chExt cx="2739324" cy="51116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739324" cy="511168"/>
              </a:xfrm>
              <a:custGeom>
                <a:avLst/>
                <a:gdLst/>
                <a:ahLst/>
                <a:cxnLst/>
                <a:rect r="r" b="b" t="t" l="l"/>
                <a:pathLst>
                  <a:path h="511168" w="2739324">
                    <a:moveTo>
                      <a:pt x="0" y="0"/>
                    </a:moveTo>
                    <a:lnTo>
                      <a:pt x="2739324" y="0"/>
                    </a:lnTo>
                    <a:lnTo>
                      <a:pt x="2739324" y="511168"/>
                    </a:lnTo>
                    <a:lnTo>
                      <a:pt x="0" y="511168"/>
                    </a:lnTo>
                    <a:close/>
                  </a:path>
                </a:pathLst>
              </a:custGeom>
              <a:solidFill>
                <a:srgbClr val="0AA041">
                  <a:alpha val="80000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57150"/>
                <a:ext cx="2739324" cy="568318"/>
              </a:xfrm>
              <a:prstGeom prst="rect">
                <a:avLst/>
              </a:prstGeom>
            </p:spPr>
            <p:txBody>
              <a:bodyPr anchor="ctr" rtlCol="false" tIns="8023" lIns="8023" bIns="8023" rIns="8023"/>
              <a:lstStyle/>
              <a:p>
                <a:pPr algn="r">
                  <a:lnSpc>
                    <a:spcPts val="4472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9141893" y="103486"/>
              <a:ext cx="3614136" cy="7838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299"/>
                </a:lnSpc>
              </a:pPr>
              <a:r>
                <a:rPr lang="en-US" b="true" sz="4299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957618" y="76200"/>
              <a:ext cx="3783172" cy="797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300"/>
                </a:lnSpc>
              </a:pPr>
              <a:r>
                <a:rPr lang="en-US" b="true" sz="430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2079630" y="137279"/>
              <a:ext cx="1250657" cy="703295"/>
              <a:chOff x="0" y="0"/>
              <a:chExt cx="796585" cy="4479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96585" cy="447952"/>
              </a:xfrm>
              <a:custGeom>
                <a:avLst/>
                <a:gdLst/>
                <a:ahLst/>
                <a:cxnLst/>
                <a:rect r="r" b="b" t="t" l="l"/>
                <a:pathLst>
                  <a:path h="447952" w="796585">
                    <a:moveTo>
                      <a:pt x="0" y="0"/>
                    </a:moveTo>
                    <a:lnTo>
                      <a:pt x="796585" y="0"/>
                    </a:lnTo>
                    <a:lnTo>
                      <a:pt x="796585" y="447952"/>
                    </a:lnTo>
                    <a:lnTo>
                      <a:pt x="0" y="447952"/>
                    </a:lnTo>
                    <a:close/>
                  </a:path>
                </a:pathLst>
              </a:custGeom>
              <a:solidFill>
                <a:srgbClr val="0198C5">
                  <a:alpha val="80000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796585" cy="505102"/>
              </a:xfrm>
              <a:prstGeom prst="rect">
                <a:avLst/>
              </a:prstGeom>
            </p:spPr>
            <p:txBody>
              <a:bodyPr anchor="ctr" rtlCol="false" tIns="9429" lIns="9429" bIns="9429" rIns="9429"/>
              <a:lstStyle/>
              <a:p>
                <a:pPr algn="ctr">
                  <a:lnSpc>
                    <a:spcPts val="4473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819656" y="93442"/>
              <a:ext cx="2315145" cy="867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799404" y="76200"/>
              <a:ext cx="2315145" cy="867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89960" y="231339"/>
              <a:ext cx="5680898" cy="609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8"/>
                </a:lnSpc>
              </a:pPr>
              <a:r>
                <a:rPr lang="en-US" sz="3238" b="true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Seminário de Ciência e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884162" y="8479814"/>
            <a:ext cx="3956548" cy="1092996"/>
          </a:xfrm>
          <a:custGeom>
            <a:avLst/>
            <a:gdLst/>
            <a:ahLst/>
            <a:cxnLst/>
            <a:rect r="r" b="b" t="t" l="l"/>
            <a:pathLst>
              <a:path h="1092996" w="3956548">
                <a:moveTo>
                  <a:pt x="0" y="0"/>
                </a:moveTo>
                <a:lnTo>
                  <a:pt x="3956548" y="0"/>
                </a:lnTo>
                <a:lnTo>
                  <a:pt x="3956548" y="1092996"/>
                </a:lnTo>
                <a:lnTo>
                  <a:pt x="0" y="1092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0" y="9936452"/>
            <a:ext cx="9525000" cy="11906250"/>
            <a:chOff x="0" y="0"/>
            <a:chExt cx="12700000" cy="15875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9525000" y="0"/>
              <a:ext cx="3175000" cy="3175000"/>
              <a:chOff x="0" y="0"/>
              <a:chExt cx="986193" cy="986193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69" id="69"/>
          <p:cNvGrpSpPr/>
          <p:nvPr/>
        </p:nvGrpSpPr>
        <p:grpSpPr>
          <a:xfrm rot="-5400000">
            <a:off x="8318204" y="8745827"/>
            <a:ext cx="9525000" cy="11906250"/>
            <a:chOff x="0" y="0"/>
            <a:chExt cx="12700000" cy="15875000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117" id="11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8" id="118"/>
          <p:cNvSpPr txBox="true"/>
          <p:nvPr/>
        </p:nvSpPr>
        <p:spPr>
          <a:xfrm rot="0">
            <a:off x="758478" y="2018645"/>
            <a:ext cx="9800000" cy="15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4724"/>
              </a:lnSpc>
            </a:pPr>
            <a:r>
              <a:rPr sz="4000" b="1">
                <a:solidFill>
                  <a:srgbClr val="000000"/>
                </a:solidFill>
                <a:latin typeface="Lato Heavy"/>
              </a:rPr>
              <a:t>Resultados e Discussão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758478" y="3736534"/>
            <a:ext cx="9800000" cy="46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Hipótese confirmada — </a:t>
            </a:r>
            <a:r>
              <a:rPr b="0" sz="1700">
                <a:solidFill>
                  <a:srgbClr val="000000"/>
                </a:solidFill>
                <a:latin typeface="Arial"/>
              </a:rPr>
              <a:t>Os resultados confirmam a hipótese formulada na introdução: o eBPF apresentou a menor sobrecarga de tempo de resposta em todos os volumes testados, com diferença estatisticamente significativa.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Ganho real, porém específico — </a:t>
            </a:r>
            <a:r>
              <a:rPr b="0" sz="1700">
                <a:solidFill>
                  <a:srgbClr val="000000"/>
                </a:solidFill>
                <a:latin typeface="Arial"/>
              </a:rPr>
              <a:t>A vantagem do eBPF (8% a 15%) aparece no tempo de resposta; em CPU do WAF as três ferramentas são equivalentes, e em memória o Sysstat é o mais leve — não há um vencedor absoluto em todos os critérios.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b="1" sz="1700">
                <a:solidFill>
                  <a:srgbClr val="000000"/>
                </a:solidFill>
                <a:latin typeface="Arial"/>
              </a:rPr>
              <a:t>Contribuição — </a:t>
            </a:r>
            <a:r>
              <a:rPr b="0" sz="1700">
                <a:solidFill>
                  <a:srgbClr val="000000"/>
                </a:solidFill>
                <a:latin typeface="Arial"/>
              </a:rPr>
              <a:t>Comparação direta e inédita entre eBPF, Sysstat e Prometheus na mesma VNF, sob quatro volumes de tráfego, com base empírica para decisões de monitoramento em ambientes NFV com recursos compartilhados.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3192" y="356173"/>
            <a:ext cx="16735628" cy="1119763"/>
            <a:chOff x="0" y="0"/>
            <a:chExt cx="22314171" cy="149301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8598"/>
              <a:ext cx="22314171" cy="1354419"/>
              <a:chOff x="0" y="0"/>
              <a:chExt cx="51788682" cy="314345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8989" cy="8763"/>
              </a:xfrm>
              <a:custGeom>
                <a:avLst/>
                <a:gdLst/>
                <a:ahLst/>
                <a:cxnLst/>
                <a:rect r="r" b="b" t="t" l="l"/>
                <a:pathLst>
                  <a:path h="8763" w="38989">
                    <a:moveTo>
                      <a:pt x="0" y="0"/>
                    </a:moveTo>
                    <a:lnTo>
                      <a:pt x="38989" y="0"/>
                    </a:lnTo>
                    <a:lnTo>
                      <a:pt x="38989" y="8763"/>
                    </a:lnTo>
                    <a:lnTo>
                      <a:pt x="0" y="8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D050"/>
              </a:solidFill>
              <a:ln w="25550" cap="sq">
                <a:solidFill>
                  <a:srgbClr val="92D050"/>
                </a:solidFill>
                <a:prstDash val="solid"/>
                <a:miter/>
              </a:ln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9141893" y="130450"/>
              <a:ext cx="4055852" cy="756837"/>
              <a:chOff x="0" y="0"/>
              <a:chExt cx="2739324" cy="51116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739324" cy="511168"/>
              </a:xfrm>
              <a:custGeom>
                <a:avLst/>
                <a:gdLst/>
                <a:ahLst/>
                <a:cxnLst/>
                <a:rect r="r" b="b" t="t" l="l"/>
                <a:pathLst>
                  <a:path h="511168" w="2739324">
                    <a:moveTo>
                      <a:pt x="0" y="0"/>
                    </a:moveTo>
                    <a:lnTo>
                      <a:pt x="2739324" y="0"/>
                    </a:lnTo>
                    <a:lnTo>
                      <a:pt x="2739324" y="511168"/>
                    </a:lnTo>
                    <a:lnTo>
                      <a:pt x="0" y="511168"/>
                    </a:lnTo>
                    <a:close/>
                  </a:path>
                </a:pathLst>
              </a:custGeom>
              <a:solidFill>
                <a:srgbClr val="0AA041">
                  <a:alpha val="80000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57150"/>
                <a:ext cx="2739324" cy="568318"/>
              </a:xfrm>
              <a:prstGeom prst="rect">
                <a:avLst/>
              </a:prstGeom>
            </p:spPr>
            <p:txBody>
              <a:bodyPr anchor="ctr" rtlCol="false" tIns="8023" lIns="8023" bIns="8023" rIns="8023"/>
              <a:lstStyle/>
              <a:p>
                <a:pPr algn="r">
                  <a:lnSpc>
                    <a:spcPts val="4472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9141893" y="103486"/>
              <a:ext cx="3614136" cy="7838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299"/>
                </a:lnSpc>
              </a:pPr>
              <a:r>
                <a:rPr lang="en-US" b="true" sz="4299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957618" y="76200"/>
              <a:ext cx="3783172" cy="797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300"/>
                </a:lnSpc>
              </a:pPr>
              <a:r>
                <a:rPr lang="en-US" b="true" sz="430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2079630" y="137279"/>
              <a:ext cx="1250657" cy="703295"/>
              <a:chOff x="0" y="0"/>
              <a:chExt cx="796585" cy="4479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96585" cy="447952"/>
              </a:xfrm>
              <a:custGeom>
                <a:avLst/>
                <a:gdLst/>
                <a:ahLst/>
                <a:cxnLst/>
                <a:rect r="r" b="b" t="t" l="l"/>
                <a:pathLst>
                  <a:path h="447952" w="796585">
                    <a:moveTo>
                      <a:pt x="0" y="0"/>
                    </a:moveTo>
                    <a:lnTo>
                      <a:pt x="796585" y="0"/>
                    </a:lnTo>
                    <a:lnTo>
                      <a:pt x="796585" y="447952"/>
                    </a:lnTo>
                    <a:lnTo>
                      <a:pt x="0" y="447952"/>
                    </a:lnTo>
                    <a:close/>
                  </a:path>
                </a:pathLst>
              </a:custGeom>
              <a:solidFill>
                <a:srgbClr val="0198C5">
                  <a:alpha val="80000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796585" cy="505102"/>
              </a:xfrm>
              <a:prstGeom prst="rect">
                <a:avLst/>
              </a:prstGeom>
            </p:spPr>
            <p:txBody>
              <a:bodyPr anchor="ctr" rtlCol="false" tIns="9429" lIns="9429" bIns="9429" rIns="9429"/>
              <a:lstStyle/>
              <a:p>
                <a:pPr algn="ctr">
                  <a:lnSpc>
                    <a:spcPts val="4473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819656" y="93442"/>
              <a:ext cx="2315145" cy="867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799404" y="76200"/>
              <a:ext cx="2315145" cy="867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89960" y="231339"/>
              <a:ext cx="5680898" cy="609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8"/>
                </a:lnSpc>
              </a:pPr>
              <a:r>
                <a:rPr lang="en-US" sz="3238" b="true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Seminário de Ciência e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884162" y="8479814"/>
            <a:ext cx="3956548" cy="1092996"/>
          </a:xfrm>
          <a:custGeom>
            <a:avLst/>
            <a:gdLst/>
            <a:ahLst/>
            <a:cxnLst/>
            <a:rect r="r" b="b" t="t" l="l"/>
            <a:pathLst>
              <a:path h="1092996" w="3956548">
                <a:moveTo>
                  <a:pt x="0" y="0"/>
                </a:moveTo>
                <a:lnTo>
                  <a:pt x="3956548" y="0"/>
                </a:lnTo>
                <a:lnTo>
                  <a:pt x="3956548" y="1092996"/>
                </a:lnTo>
                <a:lnTo>
                  <a:pt x="0" y="1092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0" y="9936452"/>
            <a:ext cx="9525000" cy="11906250"/>
            <a:chOff x="0" y="0"/>
            <a:chExt cx="12700000" cy="15875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9525000" y="0"/>
              <a:ext cx="3175000" cy="3175000"/>
              <a:chOff x="0" y="0"/>
              <a:chExt cx="986193" cy="986193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69" id="69"/>
          <p:cNvGrpSpPr/>
          <p:nvPr/>
        </p:nvGrpSpPr>
        <p:grpSpPr>
          <a:xfrm rot="-5400000">
            <a:off x="8318204" y="8745827"/>
            <a:ext cx="9525000" cy="11906250"/>
            <a:chOff x="0" y="0"/>
            <a:chExt cx="12700000" cy="15875000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117" id="11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8" id="118"/>
          <p:cNvSpPr txBox="true"/>
          <p:nvPr/>
        </p:nvSpPr>
        <p:spPr>
          <a:xfrm rot="0">
            <a:off x="758478" y="2018645"/>
            <a:ext cx="9800000" cy="15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4724"/>
              </a:lnSpc>
            </a:pPr>
            <a:r>
              <a:rPr sz="4000" b="1">
                <a:solidFill>
                  <a:srgbClr val="000000"/>
                </a:solidFill>
                <a:latin typeface="Lato Heavy"/>
              </a:rPr>
              <a:t>Limitações e Próximos Passos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758478" y="3736534"/>
            <a:ext cx="9800000" cy="46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1" sz="1600">
                <a:solidFill>
                  <a:srgbClr val="000000"/>
                </a:solidFill>
                <a:latin typeface="Arial"/>
              </a:rPr>
              <a:t>O que já está fechado — </a:t>
            </a:r>
            <a:r>
              <a:rPr b="0" sz="1600">
                <a:solidFill>
                  <a:srgbClr val="000000"/>
                </a:solidFill>
                <a:latin typeface="Arial"/>
              </a:rPr>
              <a:t>Os resultados do Capítulo 4 — as 360 execuções e as métricas de tempo de resposta, CPU e memória — estão consolidados e não vão mudar.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1" sz="1600">
                <a:solidFill>
                  <a:srgbClr val="000000"/>
                </a:solidFill>
                <a:latin typeface="Arial"/>
              </a:rPr>
              <a:t>O que falta — </a:t>
            </a:r>
            <a:r>
              <a:rPr b="0" sz="1600">
                <a:solidFill>
                  <a:srgbClr val="000000"/>
                </a:solidFill>
                <a:latin typeface="Arial"/>
              </a:rPr>
              <a:t>Escrever o Capítulo 5 (discussão e conclusão), incorporando as sugestões da banca de qualificação, até a defesa final, em dezembro de 2026.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1" sz="1600">
                <a:solidFill>
                  <a:srgbClr val="000000"/>
                </a:solidFill>
                <a:latin typeface="Arial"/>
              </a:rPr>
              <a:t>Limitações do escopo testado — </a:t>
            </a:r>
            <a:r>
              <a:rPr b="0" sz="1600">
                <a:solidFill>
                  <a:srgbClr val="000000"/>
                </a:solidFill>
                <a:latin typeface="Arial"/>
              </a:rPr>
              <a:t>Experimentos em interface loopback e com um WAF simplificado, o que limita a generalização direta para redes físicas em produção.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1" sz="1600">
                <a:solidFill>
                  <a:srgbClr val="000000"/>
                </a:solidFill>
                <a:latin typeface="Arial"/>
              </a:rPr>
              <a:t>Trabalhos futuros — </a:t>
            </a:r>
            <a:r>
              <a:rPr b="0" sz="1600">
                <a:solidFill>
                  <a:srgbClr val="000000"/>
                </a:solidFill>
                <a:latin typeface="Arial"/>
              </a:rPr>
              <a:t>Validar os resultados em infraestrutura física com tráfego real, e explorar os hooks XDP e TC do eBPF para monitoramento em camadas mais baixas da pilha de rede.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3192" y="356173"/>
            <a:ext cx="16735628" cy="1119763"/>
            <a:chOff x="0" y="0"/>
            <a:chExt cx="22314171" cy="149301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8598"/>
              <a:ext cx="22314171" cy="1354419"/>
              <a:chOff x="0" y="0"/>
              <a:chExt cx="51788682" cy="314345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8989" cy="8763"/>
              </a:xfrm>
              <a:custGeom>
                <a:avLst/>
                <a:gdLst/>
                <a:ahLst/>
                <a:cxnLst/>
                <a:rect r="r" b="b" t="t" l="l"/>
                <a:pathLst>
                  <a:path h="8763" w="38989">
                    <a:moveTo>
                      <a:pt x="0" y="0"/>
                    </a:moveTo>
                    <a:lnTo>
                      <a:pt x="38989" y="0"/>
                    </a:lnTo>
                    <a:lnTo>
                      <a:pt x="38989" y="8763"/>
                    </a:lnTo>
                    <a:lnTo>
                      <a:pt x="0" y="8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D050"/>
              </a:solidFill>
              <a:ln w="25550" cap="sq">
                <a:solidFill>
                  <a:srgbClr val="92D050"/>
                </a:solidFill>
                <a:prstDash val="solid"/>
                <a:miter/>
              </a:ln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9141893" y="130450"/>
              <a:ext cx="4055852" cy="756837"/>
              <a:chOff x="0" y="0"/>
              <a:chExt cx="2739324" cy="51116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739324" cy="511168"/>
              </a:xfrm>
              <a:custGeom>
                <a:avLst/>
                <a:gdLst/>
                <a:ahLst/>
                <a:cxnLst/>
                <a:rect r="r" b="b" t="t" l="l"/>
                <a:pathLst>
                  <a:path h="511168" w="2739324">
                    <a:moveTo>
                      <a:pt x="0" y="0"/>
                    </a:moveTo>
                    <a:lnTo>
                      <a:pt x="2739324" y="0"/>
                    </a:lnTo>
                    <a:lnTo>
                      <a:pt x="2739324" y="511168"/>
                    </a:lnTo>
                    <a:lnTo>
                      <a:pt x="0" y="511168"/>
                    </a:lnTo>
                    <a:close/>
                  </a:path>
                </a:pathLst>
              </a:custGeom>
              <a:solidFill>
                <a:srgbClr val="0AA041">
                  <a:alpha val="80000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57150"/>
                <a:ext cx="2739324" cy="568318"/>
              </a:xfrm>
              <a:prstGeom prst="rect">
                <a:avLst/>
              </a:prstGeom>
            </p:spPr>
            <p:txBody>
              <a:bodyPr anchor="ctr" rtlCol="false" tIns="8023" lIns="8023" bIns="8023" rIns="8023"/>
              <a:lstStyle/>
              <a:p>
                <a:pPr algn="r">
                  <a:lnSpc>
                    <a:spcPts val="4472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9141893" y="103486"/>
              <a:ext cx="3614136" cy="7838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299"/>
                </a:lnSpc>
              </a:pPr>
              <a:r>
                <a:rPr lang="en-US" b="true" sz="4299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957618" y="76200"/>
              <a:ext cx="3783172" cy="797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300"/>
                </a:lnSpc>
              </a:pPr>
              <a:r>
                <a:rPr lang="en-US" b="true" sz="4300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Tecnologia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2079630" y="137279"/>
              <a:ext cx="1250657" cy="703295"/>
              <a:chOff x="0" y="0"/>
              <a:chExt cx="796585" cy="4479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96585" cy="447952"/>
              </a:xfrm>
              <a:custGeom>
                <a:avLst/>
                <a:gdLst/>
                <a:ahLst/>
                <a:cxnLst/>
                <a:rect r="r" b="b" t="t" l="l"/>
                <a:pathLst>
                  <a:path h="447952" w="796585">
                    <a:moveTo>
                      <a:pt x="0" y="0"/>
                    </a:moveTo>
                    <a:lnTo>
                      <a:pt x="796585" y="0"/>
                    </a:lnTo>
                    <a:lnTo>
                      <a:pt x="796585" y="447952"/>
                    </a:lnTo>
                    <a:lnTo>
                      <a:pt x="0" y="447952"/>
                    </a:lnTo>
                    <a:close/>
                  </a:path>
                </a:pathLst>
              </a:custGeom>
              <a:solidFill>
                <a:srgbClr val="0198C5">
                  <a:alpha val="80000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796585" cy="505102"/>
              </a:xfrm>
              <a:prstGeom prst="rect">
                <a:avLst/>
              </a:prstGeom>
            </p:spPr>
            <p:txBody>
              <a:bodyPr anchor="ctr" rtlCol="false" tIns="9429" lIns="9429" bIns="9429" rIns="9429"/>
              <a:lstStyle/>
              <a:p>
                <a:pPr algn="ctr">
                  <a:lnSpc>
                    <a:spcPts val="4473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819656" y="93442"/>
              <a:ext cx="2315145" cy="867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799404" y="76200"/>
              <a:ext cx="2315145" cy="867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</a:pPr>
              <a:r>
                <a:rPr lang="en-US" b="true" sz="465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VI 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89960" y="231339"/>
              <a:ext cx="5680898" cy="609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8"/>
                </a:lnSpc>
              </a:pPr>
              <a:r>
                <a:rPr lang="en-US" sz="3238" b="true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Seminário de Ciência e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884162" y="8479814"/>
            <a:ext cx="3956548" cy="1092996"/>
          </a:xfrm>
          <a:custGeom>
            <a:avLst/>
            <a:gdLst/>
            <a:ahLst/>
            <a:cxnLst/>
            <a:rect r="r" b="b" t="t" l="l"/>
            <a:pathLst>
              <a:path h="1092996" w="3956548">
                <a:moveTo>
                  <a:pt x="0" y="0"/>
                </a:moveTo>
                <a:lnTo>
                  <a:pt x="3956548" y="0"/>
                </a:lnTo>
                <a:lnTo>
                  <a:pt x="3956548" y="1092996"/>
                </a:lnTo>
                <a:lnTo>
                  <a:pt x="0" y="1092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0" y="9936452"/>
            <a:ext cx="9525000" cy="11906250"/>
            <a:chOff x="0" y="0"/>
            <a:chExt cx="12700000" cy="15875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9525000" y="0"/>
              <a:ext cx="3175000" cy="3175000"/>
              <a:chOff x="0" y="0"/>
              <a:chExt cx="986193" cy="986193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69" id="69"/>
          <p:cNvGrpSpPr/>
          <p:nvPr/>
        </p:nvGrpSpPr>
        <p:grpSpPr>
          <a:xfrm rot="-5400000">
            <a:off x="8318204" y="8745827"/>
            <a:ext cx="9525000" cy="11906250"/>
            <a:chOff x="0" y="0"/>
            <a:chExt cx="12700000" cy="15875000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0"/>
              <a:ext cx="6350000" cy="3175000"/>
              <a:chOff x="0" y="0"/>
              <a:chExt cx="1972386" cy="986193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A73A">
                  <a:alpha val="69804"/>
                </a:srgbClr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0" y="3175000"/>
              <a:ext cx="3175000" cy="3175000"/>
              <a:chOff x="0" y="0"/>
              <a:chExt cx="986193" cy="986193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0" y="6350000"/>
              <a:ext cx="3175000" cy="3175000"/>
              <a:chOff x="0" y="0"/>
              <a:chExt cx="986193" cy="986193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28BFE6">
                  <a:alpha val="69804"/>
                </a:srgbClr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6350000" y="0"/>
              <a:ext cx="3175000" cy="3175000"/>
              <a:chOff x="0" y="0"/>
              <a:chExt cx="986193" cy="986193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3175000" y="3175000"/>
              <a:ext cx="3175000" cy="3175000"/>
              <a:chOff x="0" y="0"/>
              <a:chExt cx="986193" cy="986193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A31C44">
                  <a:alpha val="69804"/>
                </a:srgbClr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5400000">
              <a:off x="1587500" y="7937500"/>
              <a:ext cx="6350000" cy="3175000"/>
              <a:chOff x="0" y="0"/>
              <a:chExt cx="1972386" cy="986193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59BA47">
                  <a:alpha val="69804"/>
                </a:srgbClr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6350000" y="3175000"/>
              <a:ext cx="3175000" cy="3175000"/>
              <a:chOff x="0" y="0"/>
              <a:chExt cx="986193" cy="986193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6350000" y="6350000"/>
              <a:ext cx="3175000" cy="3175000"/>
              <a:chOff x="0" y="0"/>
              <a:chExt cx="986193" cy="986193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0" y="9525000"/>
              <a:ext cx="3175000" cy="3175000"/>
              <a:chOff x="0" y="0"/>
              <a:chExt cx="986193" cy="986193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F16A2E">
                  <a:alpha val="69804"/>
                </a:srgbClr>
              </a:solid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6350000" y="9525000"/>
              <a:ext cx="3175000" cy="3175000"/>
              <a:chOff x="0" y="0"/>
              <a:chExt cx="986193" cy="986193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6A9F">
                  <a:alpha val="69804"/>
                </a:srgbClr>
              </a:solid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3175000" y="12700000"/>
              <a:ext cx="6350000" cy="3175000"/>
              <a:chOff x="0" y="0"/>
              <a:chExt cx="1972386" cy="986193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1972386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1972386">
                    <a:moveTo>
                      <a:pt x="0" y="0"/>
                    </a:moveTo>
                    <a:lnTo>
                      <a:pt x="1972386" y="0"/>
                    </a:lnTo>
                    <a:lnTo>
                      <a:pt x="1972386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BF8D2C">
                  <a:alpha val="69804"/>
                </a:srgbClr>
              </a:solidFill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0" y="28575"/>
                <a:ext cx="1972386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0" y="12700000"/>
              <a:ext cx="3175000" cy="3175000"/>
              <a:chOff x="0" y="0"/>
              <a:chExt cx="986193" cy="986193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C7212F">
                  <a:alpha val="69804"/>
                </a:srgbClr>
              </a:solidFill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9525000" y="3175000"/>
              <a:ext cx="3175000" cy="3175000"/>
              <a:chOff x="0" y="0"/>
              <a:chExt cx="986193" cy="986193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14496A">
                  <a:alpha val="69804"/>
                </a:srgbClr>
              </a:solidFill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9525000" y="9525000"/>
              <a:ext cx="3175000" cy="3175000"/>
              <a:chOff x="0" y="0"/>
              <a:chExt cx="986193" cy="986193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4BA146">
                  <a:alpha val="69804"/>
                </a:srgbClr>
              </a:solidFill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9525000" y="12700000"/>
              <a:ext cx="3175000" cy="3175000"/>
              <a:chOff x="0" y="0"/>
              <a:chExt cx="986193" cy="986193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DD1767">
                  <a:alpha val="69804"/>
                </a:srgbClr>
              </a:solidFill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9525000" y="6350000"/>
              <a:ext cx="3175000" cy="3175000"/>
              <a:chOff x="0" y="0"/>
              <a:chExt cx="986193" cy="986193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986193" cy="986193"/>
              </a:xfrm>
              <a:custGeom>
                <a:avLst/>
                <a:gdLst/>
                <a:ahLst/>
                <a:cxnLst/>
                <a:rect r="r" b="b" t="t" l="l"/>
                <a:pathLst>
                  <a:path h="986193" w="986193">
                    <a:moveTo>
                      <a:pt x="0" y="0"/>
                    </a:moveTo>
                    <a:lnTo>
                      <a:pt x="986193" y="0"/>
                    </a:lnTo>
                    <a:lnTo>
                      <a:pt x="986193" y="986193"/>
                    </a:lnTo>
                    <a:lnTo>
                      <a:pt x="0" y="986193"/>
                    </a:lnTo>
                    <a:close/>
                  </a:path>
                </a:pathLst>
              </a:custGeom>
              <a:solidFill>
                <a:srgbClr val="EE402D">
                  <a:alpha val="69804"/>
                </a:srgbClr>
              </a:solidFill>
            </p:spPr>
          </p:sp>
          <p:sp>
            <p:nvSpPr>
              <p:cNvPr name="TextBox 117" id="117"/>
              <p:cNvSpPr txBox="true"/>
              <p:nvPr/>
            </p:nvSpPr>
            <p:spPr>
              <a:xfrm>
                <a:off x="0" y="28575"/>
                <a:ext cx="986193" cy="957618"/>
              </a:xfrm>
              <a:prstGeom prst="rect">
                <a:avLst/>
              </a:prstGeom>
            </p:spPr>
            <p:txBody>
              <a:bodyPr anchor="ctr" rtlCol="false" tIns="32306" lIns="32306" bIns="32306" rIns="32306"/>
              <a:lstStyle/>
              <a:p>
                <a:pPr algn="ctr" marL="0" indent="0" lvl="0">
                  <a:lnSpc>
                    <a:spcPts val="1564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18" id="118"/>
          <p:cNvSpPr txBox="true"/>
          <p:nvPr/>
        </p:nvSpPr>
        <p:spPr>
          <a:xfrm rot="0">
            <a:off x="758478" y="2018645"/>
            <a:ext cx="9800000" cy="15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4724"/>
              </a:lnSpc>
            </a:pPr>
            <a:r>
              <a:rPr sz="4000" b="1">
                <a:solidFill>
                  <a:srgbClr val="000000"/>
                </a:solidFill>
                <a:latin typeface="Lato Heavy"/>
              </a:rPr>
              <a:t>Obrigado!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758478" y="3736534"/>
            <a:ext cx="9800000" cy="46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0"/>
              </a:spcAft>
            </a:pPr>
            <a:r>
              <a:rPr b="0" sz="2600">
                <a:solidFill>
                  <a:srgbClr val="000000"/>
                </a:solidFill>
                <a:latin typeface="Arial"/>
              </a:rPr>
              <a:t>Dúvidas ou perguntas?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58478" y="4700000"/>
            <a:ext cx="98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João Pedro dos Santos Henrique Plinta e Rafael Correia Alves</a:t>
            </a:r>
          </a:p>
          <a:p>
            <a:pPr algn="l"/>
            <a:r>
              <a:rPr sz="1600">
                <a:solidFill>
                  <a:srgbClr val="000000"/>
                </a:solidFill>
                <a:latin typeface="Arial"/>
              </a:rPr>
              <a:t>Orientador: Prof. Me. Guilherme Werneck de Oliveira — IFPR Campus Pinhais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DAHVMzx3Zzk</dc:identifier>
  <dcterms:modified xsi:type="dcterms:W3CDTF">2011-08-01T06:04:30Z</dcterms:modified>
  <cp:revision>1</cp:revision>
  <dc:title>TCC SciTec 2026</dc:title>
</cp:coreProperties>
</file>