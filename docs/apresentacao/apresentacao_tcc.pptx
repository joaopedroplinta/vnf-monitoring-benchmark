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8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02920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CFE0F5"/>
                </a:solidFill>
                <a:latin typeface="Calibri"/>
              </a:rPr>
              <a:t>INSTITUTO FEDERAL DO PARANÁ — CAMPUS PINHAIS</a:t>
            </a:r>
          </a:p>
          <a:p>
            <a:pPr algn="ctr">
              <a:spcAft>
                <a:spcPts val="1800"/>
              </a:spcAft>
            </a:pPr>
            <a:r>
              <a:rPr sz="1300" b="0" i="0">
                <a:solidFill>
                  <a:srgbClr val="CFE0F5"/>
                </a:solidFill>
                <a:latin typeface="Calibri"/>
              </a:rPr>
              <a:t>Bacharelado em Ciência da Computação</a:t>
            </a:r>
          </a:p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Monitoramento de Funções Virtualizadas de Redes</a:t>
            </a:r>
          </a:p>
          <a:p>
            <a:pPr algn="ctr">
              <a:spcAft>
                <a:spcPts val="2400"/>
              </a:spcAft>
            </a:pPr>
            <a:r>
              <a:rPr sz="1800" b="0" i="0">
                <a:solidFill>
                  <a:srgbClr val="CFE0F5"/>
                </a:solidFill>
                <a:latin typeface="Calibri"/>
              </a:rPr>
              <a:t>Um estudo comparativo entre ferramentas de extração de comportamento</a:t>
            </a:r>
          </a:p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EAF2FB"/>
                </a:solidFill>
                <a:latin typeface="Calibri"/>
              </a:rPr>
              <a:t>Rafael Correia Alves  •  João Pedro dos Santos Henrique Plinta</a:t>
            </a:r>
          </a:p>
          <a:p>
            <a:pPr algn="ctr">
              <a:spcAft>
                <a:spcPts val="1800"/>
              </a:spcAft>
            </a:pPr>
            <a:r>
              <a:rPr sz="1300" b="0" i="0">
                <a:solidFill>
                  <a:srgbClr val="BCD2EC"/>
                </a:solidFill>
                <a:latin typeface="Calibri"/>
              </a:rPr>
              <a:t>Orientador: Prof. Guilherme Werneck de Oliveira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9BB6D6"/>
                </a:solidFill>
                <a:latin typeface="Calibri"/>
              </a:rPr>
              <a:t>Pré-banca — Pinhais,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Roteiro da apresentação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84048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1.  Contexto: NFV e o monitoramento de VNFs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2.  Problema, hipótese e objetivos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3.  As três abordagens comparadas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4.  Lacuna na literatura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80160"/>
            <a:ext cx="5486400" cy="384048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5.  Metodologia e arquitetura experimental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6.  Resultados (360 execuções)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7.  Síntese e conclusões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8.  Limitações e trabalhos futuros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12080"/>
            <a:ext cx="1106424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Pergunta central: </a:t>
            </a:r>
            <a:r>
              <a:rPr sz="1500" b="1" i="0">
                <a:solidFill>
                  <a:srgbClr val="222222"/>
                </a:solidFill>
                <a:latin typeface="Calibri"/>
              </a:rPr>
              <a:t>qual é o custo de monitorar uma VNF?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 E qual ferramenta impõe a menor sobrecarga?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73152" cy="9144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Contexto: Virtualização de Funções de Rede (NFV)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400800" cy="457200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12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NFV </a:t>
            </a:r>
            <a:r>
              <a:rPr sz="1700" b="1" i="0">
                <a:solidFill>
                  <a:srgbClr val="222222"/>
                </a:solidFill>
                <a:latin typeface="Calibri"/>
              </a:rPr>
              <a:t>desacopla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 funções de rede do hardware dedicado — elas viram software (VNFs) em servidores comuns.</a:t>
            </a:r>
          </a:p>
          <a:p>
            <a:pPr algn="l">
              <a:spcAft>
                <a:spcPts val="12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Exemplos de VNF: firewall, IDS, balanceador, </a:t>
            </a:r>
            <a:r>
              <a:rPr sz="1700" b="1" i="0">
                <a:solidFill>
                  <a:srgbClr val="222222"/>
                </a:solidFill>
                <a:latin typeface="Calibri"/>
              </a:rPr>
              <a:t>WAF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.</a:t>
            </a:r>
          </a:p>
          <a:p>
            <a:pPr algn="l">
              <a:spcAft>
                <a:spcPts val="12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Flexibilidade exige </a:t>
            </a:r>
            <a:r>
              <a:rPr sz="1700" b="1" i="0">
                <a:solidFill>
                  <a:srgbClr val="222222"/>
                </a:solidFill>
                <a:latin typeface="Calibri"/>
              </a:rPr>
              <a:t>monitoramento constante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: CPU, memória, tráfego, latência.</a:t>
            </a:r>
          </a:p>
          <a:p>
            <a:pPr algn="l">
              <a:spcAft>
                <a:spcPts val="12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O orquestrador (MANO) decide escalar ou recuperar a VNF com base nessas métricas.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63040"/>
            <a:ext cx="4389120" cy="31089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Por que importa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Métrica atrasada → o orquestrador reage tarde → violação de SLA.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O monitor roda </a:t>
            </a:r>
            <a:r>
              <a:rPr sz="1400" b="1" i="0">
                <a:solidFill>
                  <a:srgbClr val="222222"/>
                </a:solidFill>
                <a:latin typeface="Calibri"/>
              </a:rPr>
              <a:t>co-localizado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à VNF: compete pelos mesmos núcleos de CPU e memória.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463040"/>
            <a:ext cx="73152" cy="31089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10058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A própria ferramenta de monitoramento </a:t>
            </a:r>
            <a:r>
              <a:rPr sz="1700" b="1" i="0">
                <a:solidFill>
                  <a:srgbClr val="222222"/>
                </a:solidFill>
                <a:latin typeface="Calibri"/>
              </a:rPr>
              <a:t>consome recursos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 que deveriam ir para a VNF. Um coletor pesado degrada justamente o serviço que deveria apenas observar.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1064240" cy="11430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Pergunta de pesquisa: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quais as diferenças práticas de desempenho entre eBPF, Sysstat e Prometheus ao monitorar uma VNF, e qual oferece menor sobrecarga sem comprometer a coleta?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1143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94960" cy="23774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Hipótese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O eBPF, por operar no </a:t>
            </a:r>
            <a:r>
              <a:rPr sz="1400" b="1" i="0">
                <a:solidFill>
                  <a:srgbClr val="222222"/>
                </a:solidFill>
                <a:latin typeface="Calibri"/>
              </a:rPr>
              <a:t>kernel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, deve ter o menor tempo de resposta e o menor impacto, frente ao polling em espaço de usuário (Sysstat e Prometheus via /proc).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73152" cy="2377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3657600"/>
            <a:ext cx="5394960" cy="23774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Lacuna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Faltam estudos </a:t>
            </a:r>
            <a:r>
              <a:rPr sz="1400" b="1" i="0">
                <a:solidFill>
                  <a:srgbClr val="222222"/>
                </a:solidFill>
                <a:latin typeface="Calibri"/>
              </a:rPr>
              <a:t>quantitativos controlados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comparando as três abordagens sobre uma mesma VNF, em condições equivalentes.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657600"/>
            <a:ext cx="73152" cy="2377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109728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Geral: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compreender como eBPF, Sysstat e Prometheus influenciam, em tempo de resposta e sobrecarga, o monitoramento de uma VNF sob diferentes cargas.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64240" cy="320040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Específicos:</a:t>
            </a:r>
          </a:p>
          <a:p>
            <a:pPr algn="l">
              <a:spcAft>
                <a:spcPts val="10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Levantar a literatura de monitoramento em NFV;</a:t>
            </a:r>
          </a:p>
          <a:p>
            <a:pPr algn="l">
              <a:spcAft>
                <a:spcPts val="10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Implementar três coletores (eBPF, Sysstat, Prometheus) para um WAF;</a:t>
            </a:r>
          </a:p>
          <a:p>
            <a:pPr algn="l">
              <a:spcAft>
                <a:spcPts val="10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Executar experimentos com 4 cargas distintas, medindo tempo de extração, CPU e memória;</a:t>
            </a:r>
          </a:p>
          <a:p>
            <a:pPr algn="l">
              <a:spcAft>
                <a:spcPts val="10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Compreender vantagens e limitações de cada abordagem.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As três abordagens comparadas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11880" cy="3657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eBPF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Kernel-level.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kprobes em tcp_sendmsg e tcp_cleanup_rbuf.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Conta bytes no kernel via mapas BPF; espaço de usuário só lê o agregado.</a:t>
            </a:r>
          </a:p>
          <a:p>
            <a:pPr algn="l">
              <a:spcAft>
                <a:spcPts val="300"/>
              </a:spcAft>
            </a:pPr>
            <a:r>
              <a:rPr sz="1300" b="0" i="1">
                <a:solidFill>
                  <a:srgbClr val="5B6770"/>
                </a:solidFill>
                <a:latin typeface="Calibri"/>
              </a:rPr>
              <a:t>libbpf + CO-RE, sem cópia de pacotes.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3657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51960" y="1280160"/>
            <a:ext cx="3611880" cy="3657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Sysstat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User-space.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Polling de /proc/net/dev + psutil a cada requisição.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Lê e faz parsing de arquivos de texto do /proc.</a:t>
            </a:r>
          </a:p>
          <a:p>
            <a:pPr algn="l">
              <a:spcAft>
                <a:spcPts val="300"/>
              </a:spcAft>
            </a:pPr>
            <a:r>
              <a:rPr sz="1300" b="0" i="1">
                <a:solidFill>
                  <a:srgbClr val="5B6770"/>
                </a:solidFill>
                <a:latin typeface="Calibri"/>
              </a:rPr>
              <a:t>Ferramenta consolidada e portável.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280160"/>
            <a:ext cx="73152" cy="3657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611880" cy="36576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Prometheus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User-space.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Mesma lógica do Sysstat + servidor HTTP na porta 8000.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Expõe /metrics no padrão Prometheus.</a:t>
            </a:r>
          </a:p>
          <a:p>
            <a:pPr algn="l">
              <a:spcAft>
                <a:spcPts val="300"/>
              </a:spcAft>
            </a:pPr>
            <a:r>
              <a:rPr sz="1300" b="0" i="1">
                <a:solidFill>
                  <a:srgbClr val="5B6770"/>
                </a:solidFill>
                <a:latin typeface="Calibri"/>
              </a:rPr>
              <a:t>Padrão de observabilidade em microsserviços.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280160"/>
            <a:ext cx="73152" cy="365760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212080"/>
            <a:ext cx="11064240" cy="91440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5B6770"/>
                </a:solidFill>
                <a:latin typeface="Calibri"/>
              </a:rPr>
              <a:t>Núcleo do contraste: </a:t>
            </a:r>
            <a:r>
              <a:rPr sz="1600" b="1" i="0">
                <a:solidFill>
                  <a:srgbClr val="11385F"/>
                </a:solidFill>
                <a:latin typeface="Calibri"/>
              </a:rPr>
              <a:t>ler contadores no kernel</a:t>
            </a:r>
            <a:r>
              <a:rPr sz="1600" b="0" i="0">
                <a:solidFill>
                  <a:srgbClr val="5B6770"/>
                </a:solidFill>
                <a:latin typeface="Calibri"/>
              </a:rPr>
              <a:t>  vs.  </a:t>
            </a:r>
            <a:r>
              <a:rPr sz="1600" b="1" i="0">
                <a:solidFill>
                  <a:srgbClr val="11385F"/>
                </a:solidFill>
                <a:latin typeface="Calibri"/>
              </a:rPr>
              <a:t>fazer polling de /proc no espaço de usuário.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Lacuna na literatura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291840"/>
                <a:gridCol w="2560320"/>
                <a:gridCol w="22860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Trabalho</a:t>
                      </a:r>
                    </a:p>
                  </a:txBody>
                  <a:tcPr marL="76200" marT="38100" marB="38100" anchor="ctr">
                    <a:solidFill>
                      <a:srgbClr val="1138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Tecnologias</a:t>
                      </a:r>
                    </a:p>
                  </a:txBody>
                  <a:tcPr marL="76200" marT="38100" marB="38100" anchor="ctr">
                    <a:solidFill>
                      <a:srgbClr val="1138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Comparou as 3?</a:t>
                      </a:r>
                    </a:p>
                  </a:txBody>
                  <a:tcPr marL="76200" marT="38100" marB="38100" anchor="ctr">
                    <a:solidFill>
                      <a:srgbClr val="1138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Carga / VNF</a:t>
                      </a:r>
                    </a:p>
                  </a:txBody>
                  <a:tcPr marL="76200" marT="38100" marB="38100" anchor="ctr">
                    <a:solidFill>
                      <a:srgbClr val="1138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Cassagnes et al. (2020)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eBPF vs. polling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Não (sem Prometheus)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Rede geral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Sathyaseelan et al. (2024)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eBPF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Kubernetes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Shahinfar et al. (2025)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eBPF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Host / rede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Oliveira et al. (2026)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Sysstat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DPI simulado</a:t>
                      </a:r>
                    </a:p>
                  </a:txBody>
                  <a:tcPr marL="7620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Este trabalho</a:t>
                      </a:r>
                    </a:p>
                  </a:txBody>
                  <a:tcPr marL="76200" marT="38100" marB="38100" anchor="ctr">
                    <a:solidFill>
                      <a:srgbClr val="EAF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eBPF + Sysstat + Prometheus</a:t>
                      </a:r>
                    </a:p>
                  </a:txBody>
                  <a:tcPr marL="76200" marT="38100" marB="38100" anchor="ctr">
                    <a:solidFill>
                      <a:srgbClr val="EAF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Sim</a:t>
                      </a:r>
                    </a:p>
                  </a:txBody>
                  <a:tcPr marL="76200" marT="38100" marB="38100" anchor="ctr">
                    <a:solidFill>
                      <a:srgbClr val="EAF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WAF, 100k–2M msgs</a:t>
                      </a:r>
                    </a:p>
                  </a:txBody>
                  <a:tcPr marL="76200" marT="38100" marB="38100" anchor="ctr">
                    <a:solidFill>
                      <a:srgbClr val="EAFA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Nenhum estudo compara as três abordagens sobre uma mesma VNF, com cargas crescentes e controladas. É essa lacuna que preenchemos.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Metodologia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438912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14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Pesquisa </a:t>
            </a:r>
            <a:r>
              <a:rPr sz="1700" b="1" i="0">
                <a:solidFill>
                  <a:srgbClr val="222222"/>
                </a:solidFill>
                <a:latin typeface="Calibri"/>
              </a:rPr>
              <a:t>aplicada, quantitativa, comparativa e experimental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VNF representativa: um </a:t>
            </a:r>
            <a:r>
              <a:rPr sz="1700" b="1" i="0">
                <a:solidFill>
                  <a:srgbClr val="222222"/>
                </a:solidFill>
                <a:latin typeface="Calibri"/>
              </a:rPr>
              <a:t>WAF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 que inspeciona SQLi, XSS, Path Traversal, RCE e Null Byte.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WAF concentra carga de CPU → torna visível qualquer sobrecarga do coletor.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63040"/>
            <a:ext cx="4389120" cy="31089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Ambiente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AMD Ryzen 5 5500 (6c/12t), 16 GB RAM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Ubuntu 26.04 LTS · kernel 7.0.0-15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3 pilhas Docker Compose isoladas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libbpf 1.3 · clang 18 · Python 3.12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463040"/>
            <a:ext cx="73152" cy="31089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Arquitetura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9</a:t>
            </a:r>
          </a:p>
        </p:txBody>
      </p:sp>
      <p:pic>
        <p:nvPicPr>
          <p:cNvPr id="5" name="Picture 4" descr="C4model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116" y="1188720"/>
            <a:ext cx="737328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715000"/>
            <a:ext cx="11247120" cy="36576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1">
                <a:solidFill>
                  <a:srgbClr val="5B6770"/>
                </a:solidFill>
                <a:latin typeface="Calibri"/>
              </a:rPr>
              <a:t>Cliente → WAF (TCP 8080) → Observador (UDP 9999); probe.py mede o RTT a cada 1 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Protocolo de testes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438912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1400"/>
              </a:spcAft>
              <a:buChar char="•"/>
            </a:pPr>
            <a:r>
              <a:rPr sz="1700" b="1" i="0">
                <a:solidFill>
                  <a:srgbClr val="222222"/>
                </a:solidFill>
                <a:latin typeface="Calibri"/>
              </a:rPr>
              <a:t>Variável independente: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volume N = 100k, 500k, 1M, 2M mensagens.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Carga: 60% benigna + 40% maliciosa, semente fixa (42) → idêntica entre ferramentas.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Cliente: 200 corrotinas assíncronas, conexões TCP persistentes.</a:t>
            </a:r>
          </a:p>
          <a:p>
            <a:pPr algn="l">
              <a:spcAft>
                <a:spcPts val="1400"/>
              </a:spcAft>
              <a:buChar char="•"/>
            </a:pPr>
            <a:r>
              <a:rPr sz="1700" b="0" i="0">
                <a:solidFill>
                  <a:srgbClr val="222222"/>
                </a:solidFill>
                <a:latin typeface="Calibri"/>
              </a:rPr>
              <a:t>30 repetições por combinação → </a:t>
            </a:r>
            <a:r>
              <a:rPr sz="1700" b="1" i="0">
                <a:solidFill>
                  <a:srgbClr val="1F6FEB"/>
                </a:solidFill>
                <a:latin typeface="Calibri"/>
              </a:rPr>
              <a:t>360 execuções.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371600"/>
            <a:ext cx="4389120" cy="4114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Métrica primária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Tempo de resposta do observador (RTT UDP)</a:t>
            </a:r>
            <a:r>
              <a:rPr sz="1300" b="0" i="0">
                <a:solidFill>
                  <a:srgbClr val="222222"/>
                </a:solidFill>
                <a:latin typeface="Calibri"/>
              </a:rPr>
              <a:t>, em nanossegundos pelo probe.py.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1385F"/>
                </a:solidFill>
                <a:latin typeface="Calibri"/>
              </a:rPr>
              <a:t>Secundárias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CPU e memória do WAF e do próprio coletor.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0" i="1">
                <a:solidFill>
                  <a:srgbClr val="5B6770"/>
                </a:solidFill>
                <a:latin typeface="Calibri"/>
              </a:rPr>
              <a:t>Agregação: média ± IC95% (t de Student, n=30).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371600"/>
            <a:ext cx="73152" cy="41148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Resultado — Tempo de resposta (métrica primária)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11</a:t>
            </a:r>
          </a:p>
        </p:txBody>
      </p:sp>
      <p:pic>
        <p:nvPicPr>
          <p:cNvPr id="5" name="Picture 4" descr="tempo_resposta_por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2634"/>
            <a:ext cx="6766560" cy="4349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280160"/>
            <a:ext cx="4572000" cy="475488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1385F"/>
                </a:solidFill>
                <a:latin typeface="Calibri"/>
              </a:rPr>
              <a:t>−8% a −15%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O eBPF teve o menor RTT em todos os volumes.</a:t>
            </a:r>
          </a:p>
          <a:p>
            <a:pPr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222222"/>
                </a:solidFill>
                <a:latin typeface="Calibri"/>
              </a:rPr>
              <a:t>Redução de 8,1% a 14,7% vs. Sysstat.</a:t>
            </a:r>
          </a:p>
          <a:p>
            <a:pPr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222222"/>
                </a:solidFill>
                <a:latin typeface="Calibri"/>
              </a:rPr>
              <a:t>Redução de 10,9% a 14,0% vs. Prometheus.</a:t>
            </a:r>
          </a:p>
          <a:p>
            <a:pPr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222222"/>
                </a:solidFill>
                <a:latin typeface="Calibri"/>
              </a:rPr>
              <a:t>IC95% nunca se sobrepõem → diferença estatisticamente significativa.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Distribuição do tempo de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12</a:t>
            </a:r>
          </a:p>
        </p:txBody>
      </p:sp>
      <p:pic>
        <p:nvPicPr>
          <p:cNvPr id="5" name="Picture 4" descr="boxplot_tempo_respo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9898"/>
            <a:ext cx="9966960" cy="31924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Separação clara: em 500k e 1M, a caixa do eBPF fica inteiramente abaixo das demais. Contrapartida: maior dispersão e outliers (máx. 1,06 ms em 2M).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CPU do WAF — controle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13</a:t>
            </a:r>
          </a:p>
        </p:txBody>
      </p:sp>
      <p:pic>
        <p:nvPicPr>
          <p:cNvPr id="5" name="Picture 4" descr="cpu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2634"/>
            <a:ext cx="6766560" cy="4349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463040"/>
            <a:ext cx="4572000" cy="411480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 partir de 500k, o WAF satura em ~107–109% de uma thread, </a:t>
            </a:r>
            <a:r>
              <a:rPr sz="1600" b="1" i="0">
                <a:solidFill>
                  <a:srgbClr val="222222"/>
                </a:solidFill>
                <a:latin typeface="Calibri"/>
              </a:rPr>
              <a:t>igual nos três casos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(IC95% sobrepostos).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Confirma que nenhum coletor interfere no caminho de inspeção do WAF.</a:t>
            </a:r>
          </a:p>
          <a:p>
            <a:pPr algn="l">
              <a:spcAft>
                <a:spcPts val="1200"/>
              </a:spcAft>
            </a:pPr>
            <a:r>
              <a:rPr sz="1600" b="0" i="1">
                <a:solidFill>
                  <a:srgbClr val="5B6770"/>
                </a:solidFill>
                <a:latin typeface="Calibri"/>
              </a:rPr>
              <a:t>O coletor afeta sua própria sobrecarga, não a CPU da VNF.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Memória do observador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14</a:t>
            </a:r>
          </a:p>
        </p:txBody>
      </p:sp>
      <p:pic>
        <p:nvPicPr>
          <p:cNvPr id="5" name="Picture 4" descr="memoria_observ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2634"/>
            <a:ext cx="6766560" cy="4349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463040"/>
            <a:ext cx="4572000" cy="429768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Maior separação entre as abordagens:</a:t>
            </a:r>
          </a:p>
          <a:p>
            <a:pPr algn="l">
              <a:spcAft>
                <a:spcPts val="800"/>
              </a:spcAft>
              <a:buChar char="•"/>
            </a:pPr>
            <a:r>
              <a:rPr sz="1500" b="1" i="0">
                <a:solidFill>
                  <a:srgbClr val="1F6FEB"/>
                </a:solidFill>
                <a:latin typeface="Calibri"/>
              </a:rPr>
              <a:t>Sysstat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: ~14 MB (menor)</a:t>
            </a:r>
          </a:p>
          <a:p>
            <a:pPr algn="l">
              <a:spcAft>
                <a:spcPts val="800"/>
              </a:spcAft>
              <a:buChar char="•"/>
            </a:pPr>
            <a:r>
              <a:rPr sz="1500" b="1" i="0">
                <a:solidFill>
                  <a:srgbClr val="2E7D32"/>
                </a:solidFill>
                <a:latin typeface="Calibri"/>
              </a:rPr>
              <a:t>eBPF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: ~15 MB</a:t>
            </a:r>
          </a:p>
          <a:p>
            <a:pPr algn="l">
              <a:spcAft>
                <a:spcPts val="800"/>
              </a:spcAft>
              <a:buChar char="•"/>
            </a:pPr>
            <a:r>
              <a:rPr sz="1500" b="1" i="0">
                <a:solidFill>
                  <a:srgbClr val="E08A00"/>
                </a:solidFill>
                <a:latin typeface="Calibri"/>
              </a:rPr>
              <a:t>Prometheus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: ~24 MB (+78% vs. Sysstat)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5B6770"/>
                </a:solidFill>
                <a:latin typeface="Calibri"/>
              </a:rPr>
              <a:t>Custo do servidor HTTP + prometheus_client. Constante com o volume.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CPU do próprio observador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Resultado mais limpo em N = 100k: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0" y="2011680"/>
          <a:ext cx="6675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31920"/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Coletor</a:t>
                      </a:r>
                    </a:p>
                  </a:txBody>
                  <a:tcPr anchor="ctr" marL="101600">
                    <a:solidFill>
                      <a:srgbClr val="1138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CPU média do observador</a:t>
                      </a:r>
                    </a:p>
                  </a:txBody>
                  <a:tcPr anchor="ctr" marL="101600">
                    <a:solidFill>
                      <a:srgbClr val="1138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eBPF</a:t>
                      </a:r>
                    </a:p>
                  </a:txBody>
                  <a:tcPr anchor="ctr" marL="101600">
                    <a:solidFill>
                      <a:srgbClr val="EAF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0,05% ± 0,01</a:t>
                      </a:r>
                    </a:p>
                  </a:txBody>
                  <a:tcPr anchor="ctr" marL="101600">
                    <a:solidFill>
                      <a:srgbClr val="EAFA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  <a:latin typeface="Calibri"/>
                        </a:rPr>
                        <a:t>Prometheus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  <a:latin typeface="Calibri"/>
                        </a:rPr>
                        <a:t>2,37%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  <a:latin typeface="Calibri"/>
                        </a:rPr>
                        <a:t>Sysstat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  <a:latin typeface="Calibri"/>
                        </a:rPr>
                        <a:t>4,66%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63440"/>
            <a:ext cx="11064240" cy="1463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O eBPF consome CPU 1 a 2 ordens de grandeza menor — ler mapas do kernel é muito mais barato que parsear /proc.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B6770"/>
                </a:solidFill>
                <a:latin typeface="Calibri"/>
              </a:rPr>
              <a:t>Em volumes maiores a métrica fica ruidosa (amostragem psutil + contenção entre contêineres) → usada como evidência qualitativa.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Síntese dos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560320"/>
                <a:gridCol w="2560320"/>
                <a:gridCol w="2560320"/>
              </a:tblGrid>
              <a:tr h="5303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 marL="101600">
                    <a:solidFill>
                      <a:srgbClr val="1138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eBPF</a:t>
                      </a:r>
                    </a:p>
                  </a:txBody>
                  <a:tcPr anchor="ctr" marL="101600">
                    <a:solidFill>
                      <a:srgbClr val="1138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Sysstat</a:t>
                      </a:r>
                    </a:p>
                  </a:txBody>
                  <a:tcPr anchor="ctr" marL="101600">
                    <a:solidFill>
                      <a:srgbClr val="1138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Prometheus</a:t>
                      </a:r>
                    </a:p>
                  </a:txBody>
                  <a:tcPr anchor="ctr" marL="101600">
                    <a:solidFill>
                      <a:srgbClr val="11385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Tempo de resposta (RTT)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32"/>
                          </a:solidFill>
                          <a:latin typeface="Calibri"/>
                        </a:rPr>
                        <a:t>Menor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Intermediário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Maior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CPU do WAF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Equivalente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Equivalente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Equivalente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Memória do observador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~15 MB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32"/>
                          </a:solidFill>
                          <a:latin typeface="Calibri"/>
                        </a:rPr>
                        <a:t>~14 MB (menor)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~24 MB (maior)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CPU do observador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32"/>
                          </a:solidFill>
                          <a:latin typeface="Calibri"/>
                        </a:rPr>
                        <a:t>Menor / estável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Maior / ruidosa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Maior / ruidosa</a:t>
                      </a:r>
                    </a:p>
                  </a:txBody>
                  <a:tcPr anchor="ctr" marL="1016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3566160" cy="1828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eBPF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Vence em desempenho e CPU do coletor.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60520"/>
            <a:ext cx="73152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97680" y="4160520"/>
            <a:ext cx="3566160" cy="1828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Sysstat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Mais leve em memória; simples e portável.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4160520"/>
            <a:ext cx="73152" cy="18288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4160520"/>
            <a:ext cx="3566160" cy="18288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Prometheus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Maior custo de memória; ganho só com scraping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4160520"/>
            <a:ext cx="73152" cy="182880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1600"/>
              </a:spcAft>
              <a:buChar char="•"/>
            </a:pPr>
            <a:r>
              <a:rPr sz="1800" b="1" i="0">
                <a:solidFill>
                  <a:srgbClr val="2E7D32"/>
                </a:solidFill>
                <a:latin typeface="Calibri"/>
              </a:rPr>
              <a:t>A hipótese se confirma: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 eBPF tem o menor tempo de resposta e a menor CPU de coletor, sem sobrecarregar o WAF.</a:t>
            </a:r>
          </a:p>
          <a:p>
            <a:pPr algn="l">
              <a:spcAft>
                <a:spcPts val="1600"/>
              </a:spcAft>
              <a:buChar char="•"/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vantagem no RTT é consistente e estatisticamente significativa, porém de magnitude moderada (8–15%) e com maior variabilidade.</a:t>
            </a:r>
          </a:p>
          <a:p>
            <a:pPr algn="l">
              <a:spcAft>
                <a:spcPts val="1600"/>
              </a:spcAft>
              <a:buChar char="•"/>
            </a:pPr>
            <a:r>
              <a:rPr sz="1800" b="0" i="0">
                <a:solidFill>
                  <a:srgbClr val="222222"/>
                </a:solidFill>
                <a:latin typeface="Calibri"/>
              </a:rPr>
              <a:t>Não há "ganhador absoluto": a escolha depende do contexto operacional — memória escassa favorece Sysstat; ecossistema de observabilidade favorece Prometheus.</a:t>
            </a:r>
          </a:p>
          <a:p>
            <a:pPr algn="l">
              <a:spcAft>
                <a:spcPts val="1600"/>
              </a:spcAft>
              <a:buChar char="•"/>
            </a:pPr>
            <a:r>
              <a:rPr sz="1800" b="0" i="0">
                <a:solidFill>
                  <a:srgbClr val="222222"/>
                </a:solidFill>
                <a:latin typeface="Calibri"/>
              </a:rPr>
              <a:t>Contribuição: primeiro benchmark direto das três sobre uma mesma VNF, com código aberto e reprodutível.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Limitações e 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731520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Pré-banca TCC — IFPR Pinhais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770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94960" cy="43891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Limitações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Tráfego em loopback (sem overhead de NIC física).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Contêineres compartilham núcleos → possível contenção.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WAF simplificado em Python (não é ModSecurity).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Prometheus sem servidor central fazendo scraping.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73152" cy="43891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3891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01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1385F"/>
                </a:solidFill>
                <a:latin typeface="Calibri"/>
              </a:rPr>
              <a:t>Trabalhos futuros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Estender para uma SFC completa (firewall + IDS + LB).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Medir em rede física e sob ataque DDoS real.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Incluir o ciclo de scraping Prometheus.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Explorar hooks XDP/TC do eBPF.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73152" cy="4389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8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pPr algn="ctr"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Obrigado!</a:t>
            </a:r>
          </a:p>
          <a:p>
            <a:pPr algn="ctr">
              <a:spcAft>
                <a:spcPts val="2400"/>
              </a:spcAft>
            </a:pPr>
            <a:r>
              <a:rPr sz="2000" b="0" i="0">
                <a:solidFill>
                  <a:srgbClr val="CFE0F5"/>
                </a:solidFill>
                <a:latin typeface="Calibri"/>
              </a:rPr>
              <a:t>Dúvidas e considerações da banca</a:t>
            </a:r>
          </a:p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EAF2FB"/>
                </a:solidFill>
                <a:latin typeface="Calibri"/>
              </a:rPr>
              <a:t>Rafael Correia Alves  •  João Pedro dos Santos Henrique Plinta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BCD2EC"/>
                </a:solidFill>
                <a:latin typeface="Calibri"/>
              </a:rPr>
              <a:t>github.com/joaopedroplinta/vnf-monitoring-benchmark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